
<file path=[Content_Types].xml><?xml version="1.0" encoding="utf-8"?>
<Types xmlns="http://schemas.openxmlformats.org/package/2006/content-types">
  <Default Extension="gif" ContentType="image/gi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word/document.xml><?xml version="1.0" encoding="utf-8"?>
<w:document xmlns:wpc="http://schemas.microsoft.com/office/word/2010/wordprocessingCanvas" xmlns:mc="http://schemas.openxmlformats.org/markup-compatibility/2006" xmlns:o="urn:schemas-microsoft-com:office:office" xmlns:r="http://schemas.openxmlformats.org/officeDocument/2006/relationships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mc:Ignorable="w14 w15 wp14">
  <w:body>
    <w:p>
      <w:pPr>
        <w:spacing w:after="200"/>
        <w:jc w:val="center"/>
      </w:pPr>
      <w:r>
        <w:rPr>
          <w:rFonts w:ascii="Arial" w:cs="Arial" w:eastAsia="Arial" w:hAnsi="Arial"/>
          <w:b/>
          <w:bCs/>
          <w:sz w:val="56"/>
          <w:szCs w:val="56"/>
        </w:rPr>
        <w:t xml:space="preserve">벽돌깨기 게임 사양서</w:t>
      </w:r>
    </w:p>
    <w:p>
      <w:pPr>
        <w:spacing w:after="600"/>
        <w:jc w:val="center"/>
      </w:pPr>
      <w:r>
        <w:rPr>
          <w:rFonts w:ascii="Arial" w:cs="Arial" w:eastAsia="Arial" w:hAnsi="Arial"/>
          <w:color w:val="666666"/>
          <w:sz w:val="22"/>
          <w:szCs w:val="22"/>
        </w:rPr>
        <w:t xml:space="preserve">2026-05-19</w:t>
      </w:r>
    </w:p>
    <w:p>
      <w:pPr>
        <w:pStyle w:val="Heading1"/>
      </w:pPr>
      <w:r>
        <w:t xml:space="preserve">1. 개요</w:t>
      </w:r>
    </w:p>
    <w:p>
      <w:pPr>
        <w:spacing w:after="60"/>
      </w:pPr>
      <w:r>
        <w:rPr>
          <w:rFonts w:ascii="Arial" w:cs="Arial" w:eastAsia="Arial" w:hAnsi="Arial"/>
          <w:sz w:val="20"/>
          <w:szCs w:val="20"/>
        </w:rPr>
        <w:t xml:space="preserve">HTML5 Canvas 기반 벽돌깨기 게임. 스테이지 클리어 → 상점 → 다음 스테이지 구조로 진행되며, 총 5스테이지(마지막은 보스전)로 구성된다.</w:t>
      </w:r>
    </w:p>
    <w:p>
      <w:pPr>
        <w:spacing w:after="60"/>
      </w:pPr>
      <w:r>
        <w:t xml:space="preserve"/>
      </w:r>
    </w:p>
    <w:tbl>
      <w:tblPr>
        <w:tblW w:type="dxa" w:w="8400"/>
        <w:tblBorders>
          <w:top w:val="single" w:color="auto" w:sz="4"/>
          <w:left w:val="single" w:color="auto" w:sz="4"/>
          <w:bottom w:val="single" w:color="auto" w:sz="4"/>
          <w:right w:val="single" w:color="auto" w:sz="4"/>
          <w:insideH w:val="single" w:color="auto" w:sz="4"/>
          <w:insideV w:val="single" w:color="auto" w:sz="4"/>
        </w:tblBorders>
      </w:tblPr>
      <w:tblGrid>
        <w:gridCol w:w="2400"/>
        <w:gridCol w:w="6000"/>
      </w:tblGrid>
      <w:tr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222222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b/>
                <w:bCs/>
                <w:color w:val="FFFFFF"/>
                <w:sz w:val="20"/>
                <w:szCs w:val="20"/>
              </w:rPr>
              <w:t xml:space="preserve">항목</w:t>
            </w:r>
          </w:p>
        </w:tc>
        <w:tc>
          <w:tcPr>
            <w:tcW w:type="dxa" w:w="6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222222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b/>
                <w:bCs/>
                <w:color w:val="FFFFFF"/>
                <w:sz w:val="20"/>
                <w:szCs w:val="20"/>
              </w:rPr>
              <w:t xml:space="preserve">내용</w:t>
            </w:r>
          </w:p>
        </w:tc>
      </w:tr>
      <w:tr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캔버스 크기</w:t>
            </w:r>
          </w:p>
        </w:tc>
        <w:tc>
          <w:tcPr>
            <w:tcW w:type="dxa" w:w="6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800 × 500 px (내부 좌표계)</w:t>
            </w:r>
          </w:p>
        </w:tc>
      </w:tr>
      <w:tr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총 스테이지</w:t>
            </w:r>
          </w:p>
        </w:tc>
        <w:tc>
          <w:tcPr>
            <w:tcW w:type="dxa" w:w="6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5 (1–4 일반, 5 보스)</w:t>
            </w:r>
          </w:p>
        </w:tc>
      </w:tr>
      <w:tr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기술 스택</w:t>
            </w:r>
          </w:p>
        </w:tc>
        <w:tc>
          <w:tcPr>
            <w:tcW w:type="dxa" w:w="6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Vanilla JS · HTML5 Canvas · CSS3</w:t>
            </w:r>
          </w:p>
        </w:tc>
      </w:tr>
      <w:tr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프레임 독립성</w:t>
            </w:r>
          </w:p>
        </w:tc>
        <w:tc>
          <w:tcPr>
            <w:tcW w:type="dxa" w:w="6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requestAnimationFrame delta-time 정규화 (60 fps 기준)</w:t>
            </w:r>
          </w:p>
        </w:tc>
      </w:tr>
    </w:tbl>
    <w:p>
      <w:pPr>
        <w:spacing w:after="60"/>
      </w:pPr>
      <w:r>
        <w:t xml:space="preserve"/>
      </w:r>
    </w:p>
    <w:p>
      <w:pPr>
        <w:pStyle w:val="Heading1"/>
      </w:pPr>
      <w:r>
        <w:t xml:space="preserve">2. 화면 구성</w:t>
      </w:r>
    </w:p>
    <w:tbl>
      <w:tblPr>
        <w:tblW w:type="dxa" w:w="8400"/>
        <w:tblBorders>
          <w:top w:val="single" w:color="auto" w:sz="4"/>
          <w:left w:val="single" w:color="auto" w:sz="4"/>
          <w:bottom w:val="single" w:color="auto" w:sz="4"/>
          <w:right w:val="single" w:color="auto" w:sz="4"/>
          <w:insideH w:val="single" w:color="auto" w:sz="4"/>
          <w:insideV w:val="single" w:color="auto" w:sz="4"/>
        </w:tblBorders>
      </w:tblPr>
      <w:tblGrid>
        <w:gridCol w:w="2400"/>
        <w:gridCol w:w="6000"/>
      </w:tblGrid>
      <w:tr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222222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b/>
                <w:bCs/>
                <w:color w:val="FFFFFF"/>
                <w:sz w:val="20"/>
                <w:szCs w:val="20"/>
              </w:rPr>
              <w:t xml:space="preserve">영역</w:t>
            </w:r>
          </w:p>
        </w:tc>
        <w:tc>
          <w:tcPr>
            <w:tcW w:type="dxa" w:w="6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222222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b/>
                <w:bCs/>
                <w:color w:val="FFFFFF"/>
                <w:sz w:val="20"/>
                <w:szCs w:val="20"/>
              </w:rPr>
              <w:t xml:space="preserve">설명</w:t>
            </w:r>
          </w:p>
        </w:tc>
      </w:tr>
      <w:tr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캔버스 (중앙)</w:t>
            </w:r>
          </w:p>
        </w:tc>
        <w:tc>
          <w:tcPr>
            <w:tcW w:type="dxa" w:w="6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게임이 실행되는 800×500 영역. 우상단 HUD에 스테이지 / 타이머(보스 전용) / 점수 표시</w:t>
            </w:r>
          </w:p>
        </w:tc>
      </w:tr>
      <w:tr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스탯 패널 (우측)</w:t>
            </w:r>
          </w:p>
        </w:tc>
        <w:tc>
          <w:tcPr>
            <w:tcW w:type="dxa" w:w="6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현재 업그레이드 수치(공 데미지·패드 크기·황금 타일·골드) 및 보유 아이템 목록</w:t>
            </w:r>
          </w:p>
        </w:tc>
      </w:tr>
      <w:tr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범례 (하단)</w:t>
            </w:r>
          </w:p>
        </w:tc>
        <w:tc>
          <w:tcPr>
            <w:tcW w:type="dxa" w:w="6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특수 블록 색상 설명</w:t>
            </w:r>
          </w:p>
        </w:tc>
      </w:tr>
      <w:tr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컨트롤 (하단)</w:t>
            </w:r>
          </w:p>
        </w:tc>
        <w:tc>
          <w:tcPr>
            <w:tcW w:type="dxa" w:w="6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에러 메시지 표시 영역 및 테스트 버튼</w:t>
            </w:r>
          </w:p>
        </w:tc>
      </w:tr>
    </w:tbl>
    <w:p>
      <w:pPr>
        <w:spacing w:after="60"/>
      </w:pPr>
      <w:r>
        <w:t xml:space="preserve"/>
      </w:r>
    </w:p>
    <w:p>
      <w:pPr>
        <w:pStyle w:val="Heading1"/>
      </w:pPr>
      <w:r>
        <w:t xml:space="preserve">3. 조작</w:t>
      </w:r>
    </w:p>
    <w:tbl>
      <w:tblPr>
        <w:tblW w:type="dxa" w:w="8400"/>
        <w:tblBorders>
          <w:top w:val="single" w:color="auto" w:sz="4"/>
          <w:left w:val="single" w:color="auto" w:sz="4"/>
          <w:bottom w:val="single" w:color="auto" w:sz="4"/>
          <w:right w:val="single" w:color="auto" w:sz="4"/>
          <w:insideH w:val="single" w:color="auto" w:sz="4"/>
          <w:insideV w:val="single" w:color="auto" w:sz="4"/>
        </w:tblBorders>
      </w:tblPr>
      <w:tblGrid>
        <w:gridCol w:w="3000"/>
        <w:gridCol w:w="5400"/>
      </w:tblGrid>
      <w:tr>
        <w:tc>
          <w:tcPr>
            <w:tcW w:type="dxa" w:w="3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222222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b/>
                <w:bCs/>
                <w:color w:val="FFFFFF"/>
                <w:sz w:val="20"/>
                <w:szCs w:val="20"/>
              </w:rPr>
              <w:t xml:space="preserve">입력</w:t>
            </w:r>
          </w:p>
        </w:tc>
        <w:tc>
          <w:tcPr>
            <w:tcW w:type="dxa" w:w="5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222222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b/>
                <w:bCs/>
                <w:color w:val="FFFFFF"/>
                <w:sz w:val="20"/>
                <w:szCs w:val="20"/>
              </w:rPr>
              <w:t xml:space="preserve">동작</w:t>
            </w:r>
          </w:p>
        </w:tc>
      </w:tr>
      <w:tr>
        <w:tc>
          <w:tcPr>
            <w:tcW w:type="dxa" w:w="3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마우스 이동</w:t>
            </w:r>
          </w:p>
        </w:tc>
        <w:tc>
          <w:tcPr>
            <w:tcW w:type="dxa" w:w="5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패드 X 위치 제어</w:t>
            </w:r>
          </w:p>
        </w:tc>
      </w:tr>
      <w:tr>
        <w:tc>
          <w:tcPr>
            <w:tcW w:type="dxa" w:w="3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시작 버튼 클릭</w:t>
            </w:r>
          </w:p>
        </w:tc>
        <w:tc>
          <w:tcPr>
            <w:tcW w:type="dxa" w:w="5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게임 시작</w:t>
            </w:r>
          </w:p>
        </w:tc>
      </w:tr>
    </w:tbl>
    <w:p>
      <w:pPr>
        <w:spacing w:after="60"/>
      </w:pPr>
      <w:r>
        <w:t xml:space="preserve"/>
      </w:r>
    </w:p>
    <w:p>
      <w:pPr>
        <w:pStyle w:val="Heading1"/>
      </w:pPr>
      <w:r>
        <w:t xml:space="preserve">4. 게임 오브젝트</w:t>
      </w:r>
    </w:p>
    <w:p>
      <w:pPr>
        <w:pStyle w:val="Heading2"/>
      </w:pPr>
      <w:r>
        <w:t xml:space="preserve">4-1. 공 (Ball)</w:t>
      </w:r>
    </w:p>
    <w:tbl>
      <w:tblPr>
        <w:tblW w:type="dxa" w:w="8400"/>
        <w:tblBorders>
          <w:top w:val="single" w:color="auto" w:sz="4"/>
          <w:left w:val="single" w:color="auto" w:sz="4"/>
          <w:bottom w:val="single" w:color="auto" w:sz="4"/>
          <w:right w:val="single" w:color="auto" w:sz="4"/>
          <w:insideH w:val="single" w:color="auto" w:sz="4"/>
          <w:insideV w:val="single" w:color="auto" w:sz="4"/>
        </w:tblBorders>
      </w:tblPr>
      <w:tblGrid>
        <w:gridCol w:w="2400"/>
        <w:gridCol w:w="2400"/>
        <w:gridCol w:w="3600"/>
      </w:tblGrid>
      <w:tr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222222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b/>
                <w:bCs/>
                <w:color w:val="FFFFFF"/>
                <w:sz w:val="20"/>
                <w:szCs w:val="20"/>
              </w:rPr>
              <w:t xml:space="preserve">속성</w:t>
            </w:r>
          </w:p>
        </w:tc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222222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b/>
                <w:bCs/>
                <w:color w:val="FFFFFF"/>
                <w:sz w:val="20"/>
                <w:szCs w:val="20"/>
              </w:rPr>
              <w:t xml:space="preserve">기본값</w:t>
            </w:r>
          </w:p>
        </w:tc>
        <w:tc>
          <w:tcPr>
            <w:tcW w:type="dxa" w:w="36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222222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b/>
                <w:bCs/>
                <w:color w:val="FFFFFF"/>
                <w:sz w:val="20"/>
                <w:szCs w:val="20"/>
              </w:rPr>
              <w:t xml:space="preserve">비고</w:t>
            </w:r>
          </w:p>
        </w:tc>
      </w:tr>
      <w:tr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반지름</w:t>
            </w:r>
          </w:p>
        </w:tc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8 px</w:t>
            </w:r>
          </w:p>
        </w:tc>
        <w:tc>
          <w:tcPr>
            <w:tcW w:type="dxa" w:w="36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아이템으로 변경 가능</w:t>
            </w:r>
          </w:p>
        </w:tc>
      </w:tr>
      <w:tr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속도</w:t>
            </w:r>
          </w:p>
        </w:tc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스테이지별 고정값</w:t>
            </w:r>
          </w:p>
        </w:tc>
        <w:tc>
          <w:tcPr>
            <w:tcW w:type="dxa" w:w="36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1=4, 2=4.5, 3=5, 4=5.5, 5=6 (px/frame @60fps)</w:t>
            </w:r>
          </w:p>
        </w:tc>
      </w:tr>
      <w:tr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데미지</w:t>
            </w:r>
          </w:p>
        </w:tc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1</w:t>
            </w:r>
          </w:p>
        </w:tc>
        <w:tc>
          <w:tcPr>
            <w:tcW w:type="dxa" w:w="36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상점·아이템으로 증가 가능</w:t>
            </w:r>
          </w:p>
        </w:tc>
      </w:tr>
      <w:tr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색상</w:t>
            </w:r>
          </w:p>
        </w:tc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#222222 (기본)</w:t>
            </w:r>
          </w:p>
        </w:tc>
        <w:tc>
          <w:tcPr>
            <w:tcW w:type="dxa" w:w="36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컬러 프리셋으로 변경 가능</w:t>
            </w:r>
          </w:p>
        </w:tc>
      </w:tr>
    </w:tbl>
    <w:p>
      <w:pPr>
        <w:spacing w:after="60"/>
      </w:pPr>
      <w:r>
        <w:t xml:space="preserve"/>
      </w:r>
    </w:p>
    <w:p>
      <w:pPr>
        <w:pStyle w:val="Heading2"/>
      </w:pPr>
      <w:r>
        <w:t xml:space="preserve">4-2. 패드 (Paddle)</w:t>
      </w:r>
    </w:p>
    <w:tbl>
      <w:tblPr>
        <w:tblW w:type="dxa" w:w="8400"/>
        <w:tblBorders>
          <w:top w:val="single" w:color="auto" w:sz="4"/>
          <w:left w:val="single" w:color="auto" w:sz="4"/>
          <w:bottom w:val="single" w:color="auto" w:sz="4"/>
          <w:right w:val="single" w:color="auto" w:sz="4"/>
          <w:insideH w:val="single" w:color="auto" w:sz="4"/>
          <w:insideV w:val="single" w:color="auto" w:sz="4"/>
        </w:tblBorders>
      </w:tblPr>
      <w:tblGrid>
        <w:gridCol w:w="2400"/>
        <w:gridCol w:w="6000"/>
      </w:tblGrid>
      <w:tr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222222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b/>
                <w:bCs/>
                <w:color w:val="FFFFFF"/>
                <w:sz w:val="20"/>
                <w:szCs w:val="20"/>
              </w:rPr>
              <w:t xml:space="preserve">속성</w:t>
            </w:r>
          </w:p>
        </w:tc>
        <w:tc>
          <w:tcPr>
            <w:tcW w:type="dxa" w:w="6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222222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b/>
                <w:bCs/>
                <w:color w:val="FFFFFF"/>
                <w:sz w:val="20"/>
                <w:szCs w:val="20"/>
              </w:rPr>
              <w:t xml:space="preserve">값</w:t>
            </w:r>
          </w:p>
        </w:tc>
      </w:tr>
      <w:tr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초기 너비</w:t>
            </w:r>
          </w:p>
        </w:tc>
        <w:tc>
          <w:tcPr>
            <w:tcW w:type="dxa" w:w="6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100 px</w:t>
            </w:r>
          </w:p>
        </w:tc>
      </w:tr>
      <w:tr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높이</w:t>
            </w:r>
          </w:p>
        </w:tc>
        <w:tc>
          <w:tcPr>
            <w:tcW w:type="dxa" w:w="6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12 px</w:t>
            </w:r>
          </w:p>
        </w:tc>
      </w:tr>
      <w:tr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Y 위치</w:t>
            </w:r>
          </w:p>
        </w:tc>
        <w:tc>
          <w:tcPr>
            <w:tcW w:type="dxa" w:w="6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화면 하단 기준 20 px 위 (y = 480)</w:t>
            </w:r>
          </w:p>
        </w:tc>
      </w:tr>
      <w:tr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스핀 효과</w:t>
            </w:r>
          </w:p>
        </w:tc>
        <w:tc>
          <w:tcPr>
            <w:tcW w:type="dxa" w:w="6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패드 이동 속도에 비례해 공 반사각 조정 (최대 ±45°, 최대 반사각 60°)</w:t>
            </w:r>
          </w:p>
        </w:tc>
      </w:tr>
    </w:tbl>
    <w:p>
      <w:pPr>
        <w:spacing w:after="60"/>
      </w:pPr>
      <w:r>
        <w:t xml:space="preserve"/>
      </w:r>
    </w:p>
    <w:p>
      <w:pPr>
        <w:pStyle w:val="Heading2"/>
      </w:pPr>
      <w:r>
        <w:t xml:space="preserve">4-3. 블록 (Brick)</w:t>
      </w:r>
    </w:p>
    <w:tbl>
      <w:tblPr>
        <w:tblW w:type="dxa" w:w="8400"/>
        <w:tblBorders>
          <w:top w:val="single" w:color="auto" w:sz="4"/>
          <w:left w:val="single" w:color="auto" w:sz="4"/>
          <w:bottom w:val="single" w:color="auto" w:sz="4"/>
          <w:right w:val="single" w:color="auto" w:sz="4"/>
          <w:insideH w:val="single" w:color="auto" w:sz="4"/>
          <w:insideV w:val="single" w:color="auto" w:sz="4"/>
        </w:tblBorders>
      </w:tblPr>
      <w:tblGrid>
        <w:gridCol w:w="1800"/>
        <w:gridCol w:w="2200"/>
        <w:gridCol w:w="1800"/>
        <w:gridCol w:w="2600"/>
      </w:tblGrid>
      <w:tr>
        <w:tc>
          <w:tcPr>
            <w:tcW w:type="dxa" w:w="18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222222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b/>
                <w:bCs/>
                <w:color w:val="FFFFFF"/>
                <w:sz w:val="20"/>
                <w:szCs w:val="20"/>
              </w:rPr>
              <w:t xml:space="preserve">유형</w:t>
            </w:r>
          </w:p>
        </w:tc>
        <w:tc>
          <w:tcPr>
            <w:tcW w:type="dxa" w:w="22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222222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b/>
                <w:bCs/>
                <w:color w:val="FFFFFF"/>
                <w:sz w:val="20"/>
                <w:szCs w:val="20"/>
              </w:rPr>
              <w:t xml:space="preserve">색상(기본)</w:t>
            </w:r>
          </w:p>
        </w:tc>
        <w:tc>
          <w:tcPr>
            <w:tcW w:type="dxa" w:w="18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222222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b/>
                <w:bCs/>
                <w:color w:val="FFFFFF"/>
                <w:sz w:val="20"/>
                <w:szCs w:val="20"/>
              </w:rPr>
              <w:t xml:space="preserve">HP</w:t>
            </w:r>
          </w:p>
        </w:tc>
        <w:tc>
          <w:tcPr>
            <w:tcW w:type="dxa" w:w="26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222222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b/>
                <w:bCs/>
                <w:color w:val="FFFFFF"/>
                <w:sz w:val="20"/>
                <w:szCs w:val="20"/>
              </w:rPr>
              <w:t xml:space="preserve">특징</w:t>
            </w:r>
          </w:p>
        </w:tc>
      </w:tr>
      <w:tr>
        <w:tc>
          <w:tcPr>
            <w:tcW w:type="dxa" w:w="18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일반</w:t>
            </w:r>
          </w:p>
        </w:tc>
        <w:tc>
          <w:tcPr>
            <w:tcW w:type="dxa" w:w="22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빨강 (#e63946)</w:t>
            </w:r>
          </w:p>
        </w:tc>
        <w:tc>
          <w:tcPr>
            <w:tcW w:type="dxa" w:w="18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2ˢᵗᵃᵍᵉ − 1</w:t>
            </w:r>
          </w:p>
        </w:tc>
        <w:tc>
          <w:tcPr>
            <w:tcW w:type="dxa" w:w="26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파괴 시 골드 1G (황금 타일: 5G) 지급</w:t>
            </w:r>
          </w:p>
        </w:tc>
      </w:tr>
      <w:tr>
        <w:tc>
          <w:tcPr>
            <w:tcW w:type="dxa" w:w="18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갑옷</w:t>
            </w:r>
          </w:p>
        </w:tc>
        <w:tc>
          <w:tcPr>
            <w:tcW w:type="dxa" w:w="22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하늘 (#7fb3ff)</w:t>
            </w:r>
          </w:p>
        </w:tc>
        <w:tc>
          <w:tcPr>
            <w:tcW w:type="dxa" w:w="18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3 (고정)</w:t>
            </w:r>
          </w:p>
        </w:tc>
        <w:tc>
          <w:tcPr>
            <w:tcW w:type="dxa" w:w="26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충돌당 최대 1 데미지만 받음</w:t>
            </w:r>
          </w:p>
        </w:tc>
      </w:tr>
      <w:tr>
        <w:tc>
          <w:tcPr>
            <w:tcW w:type="dxa" w:w="18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강화</w:t>
            </w:r>
          </w:p>
        </w:tc>
        <w:tc>
          <w:tcPr>
            <w:tcW w:type="dxa" w:w="22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보라 (#7c3aed)</w:t>
            </w:r>
          </w:p>
        </w:tc>
        <w:tc>
          <w:tcPr>
            <w:tcW w:type="dxa" w:w="18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일반 HP × 2</w:t>
            </w:r>
          </w:p>
        </w:tc>
        <w:tc>
          <w:tcPr>
            <w:tcW w:type="dxa" w:w="26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일반 블록의 2배 체력</w:t>
            </w:r>
          </w:p>
        </w:tc>
      </w:tr>
      <w:tr>
        <w:tc>
          <w:tcPr>
            <w:tcW w:type="dxa" w:w="18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파괴 불가</w:t>
            </w:r>
          </w:p>
        </w:tc>
        <w:tc>
          <w:tcPr>
            <w:tcW w:type="dxa" w:w="22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검정 (#3a3a3a)</w:t>
            </w:r>
          </w:p>
        </w:tc>
        <w:tc>
          <w:tcPr>
            <w:tcW w:type="dxa" w:w="18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∞</w:t>
            </w:r>
          </w:p>
        </w:tc>
        <w:tc>
          <w:tcPr>
            <w:tcW w:type="dxa" w:w="26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골드 없음, 클리어 조건 제외</w:t>
            </w:r>
          </w:p>
        </w:tc>
      </w:tr>
      <w:tr>
        <w:tc>
          <w:tcPr>
            <w:tcW w:type="dxa" w:w="18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보스</w:t>
            </w:r>
          </w:p>
        </w:tc>
        <w:tc>
          <w:tcPr>
            <w:tcW w:type="dxa" w:w="22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빨강 (#b51b00)</w:t>
            </w:r>
          </w:p>
        </w:tc>
        <w:tc>
          <w:tcPr>
            <w:tcW w:type="dxa" w:w="18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150</w:t>
            </w:r>
          </w:p>
        </w:tc>
        <w:tc>
          <w:tcPr>
            <w:tcW w:type="dxa" w:w="26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자율 이동, 쿨다운 100ms, 시간제한 3분</w:t>
            </w:r>
          </w:p>
        </w:tc>
      </w:tr>
    </w:tbl>
    <w:p>
      <w:pPr>
        <w:spacing w:after="60"/>
      </w:pPr>
      <w:r>
        <w:t xml:space="preserve"/>
      </w:r>
    </w:p>
    <w:p>
      <w:pPr>
        <w:pStyle w:val="Heading1"/>
      </w:pPr>
      <w:r>
        <w:t xml:space="preserve">5. 스테이지 구성</w:t>
      </w:r>
    </w:p>
    <w:tbl>
      <w:tblPr>
        <w:tblW w:type="dxa" w:w="8400"/>
        <w:tblBorders>
          <w:top w:val="single" w:color="auto" w:sz="4"/>
          <w:left w:val="single" w:color="auto" w:sz="4"/>
          <w:bottom w:val="single" w:color="auto" w:sz="4"/>
          <w:right w:val="single" w:color="auto" w:sz="4"/>
          <w:insideH w:val="single" w:color="auto" w:sz="4"/>
          <w:insideV w:val="single" w:color="auto" w:sz="4"/>
        </w:tblBorders>
      </w:tblPr>
      <w:tblGrid>
        <w:gridCol w:w="2000"/>
        <w:gridCol w:w="2400"/>
        <w:gridCol w:w="2000"/>
        <w:gridCol w:w="2000"/>
      </w:tblGrid>
      <w:tr>
        <w:tc>
          <w:tcPr>
            <w:tcW w:type="dxa" w:w="2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222222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b/>
                <w:bCs/>
                <w:color w:val="FFFFFF"/>
                <w:sz w:val="20"/>
                <w:szCs w:val="20"/>
              </w:rPr>
              <w:t xml:space="preserve">스테이지</w:t>
            </w:r>
          </w:p>
        </w:tc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222222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b/>
                <w:bCs/>
                <w:color w:val="FFFFFF"/>
                <w:sz w:val="20"/>
                <w:szCs w:val="20"/>
              </w:rPr>
              <w:t xml:space="preserve">블록 배열</w:t>
            </w:r>
          </w:p>
        </w:tc>
        <w:tc>
          <w:tcPr>
            <w:tcW w:type="dxa" w:w="2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222222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b/>
                <w:bCs/>
                <w:color w:val="FFFFFF"/>
                <w:sz w:val="20"/>
                <w:szCs w:val="20"/>
              </w:rPr>
              <w:t xml:space="preserve">블록 기본 HP</w:t>
            </w:r>
          </w:p>
        </w:tc>
        <w:tc>
          <w:tcPr>
            <w:tcW w:type="dxa" w:w="2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222222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b/>
                <w:bCs/>
                <w:color w:val="FFFFFF"/>
                <w:sz w:val="20"/>
                <w:szCs w:val="20"/>
              </w:rPr>
              <w:t xml:space="preserve">특수 블록 비율</w:t>
            </w:r>
          </w:p>
        </w:tc>
      </w:tr>
      <w:tr>
        <w:tc>
          <w:tcPr>
            <w:tcW w:type="dxa" w:w="2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1</w:t>
            </w:r>
          </w:p>
        </w:tc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3행 × 5열</w:t>
            </w:r>
          </w:p>
        </w:tc>
        <w:tc>
          <w:tcPr>
            <w:tcW w:type="dxa" w:w="2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1</w:t>
            </w:r>
          </w:p>
        </w:tc>
        <w:tc>
          <w:tcPr>
            <w:tcW w:type="dxa" w:w="2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없음</w:t>
            </w:r>
          </w:p>
        </w:tc>
      </w:tr>
      <w:tr>
        <w:tc>
          <w:tcPr>
            <w:tcW w:type="dxa" w:w="2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2</w:t>
            </w:r>
          </w:p>
        </w:tc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4행 × 6열</w:t>
            </w:r>
          </w:p>
        </w:tc>
        <w:tc>
          <w:tcPr>
            <w:tcW w:type="dxa" w:w="2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3</w:t>
            </w:r>
          </w:p>
        </w:tc>
        <w:tc>
          <w:tcPr>
            <w:tcW w:type="dxa" w:w="2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종류당 1/3/7개 (스테이지 2/3/4)</w:t>
            </w:r>
          </w:p>
        </w:tc>
      </w:tr>
      <w:tr>
        <w:tc>
          <w:tcPr>
            <w:tcW w:type="dxa" w:w="2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3</w:t>
            </w:r>
          </w:p>
        </w:tc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5행 × 7열</w:t>
            </w:r>
          </w:p>
        </w:tc>
        <w:tc>
          <w:tcPr>
            <w:tcW w:type="dxa" w:w="2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7</w:t>
            </w:r>
          </w:p>
        </w:tc>
        <w:tc>
          <w:tcPr>
            <w:tcW w:type="dxa" w:w="2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약 30%</w:t>
            </w:r>
          </w:p>
        </w:tc>
      </w:tr>
      <w:tr>
        <w:tc>
          <w:tcPr>
            <w:tcW w:type="dxa" w:w="2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4</w:t>
            </w:r>
          </w:p>
        </w:tc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6행 × 8열</w:t>
            </w:r>
          </w:p>
        </w:tc>
        <w:tc>
          <w:tcPr>
            <w:tcW w:type="dxa" w:w="2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15</w:t>
            </w:r>
          </w:p>
        </w:tc>
        <w:tc>
          <w:tcPr>
            <w:tcW w:type="dxa" w:w="2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약 45%</w:t>
            </w:r>
          </w:p>
        </w:tc>
      </w:tr>
      <w:tr>
        <w:tc>
          <w:tcPr>
            <w:tcW w:type="dxa" w:w="2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5 (보스)</w:t>
            </w:r>
          </w:p>
        </w:tc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보스 1체 + 파괴불가 방패</w:t>
            </w:r>
          </w:p>
        </w:tc>
        <w:tc>
          <w:tcPr>
            <w:tcW w:type="dxa" w:w="2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150</w:t>
            </w:r>
          </w:p>
        </w:tc>
        <w:tc>
          <w:tcPr>
            <w:tcW w:type="dxa" w:w="2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—</w:t>
            </w:r>
          </w:p>
        </w:tc>
      </w:tr>
    </w:tbl>
    <w:p>
      <w:pPr>
        <w:spacing w:after="60"/>
      </w:pPr>
      <w:r>
        <w:rPr>
          <w:rFonts w:ascii="Arial" w:cs="Arial" w:eastAsia="Arial" w:hAnsi="Arial"/>
          <w:sz w:val="20"/>
          <w:szCs w:val="20"/>
        </w:rPr>
        <w:t xml:space="preserve">특수 블록 배치 규칙: 파괴 불가 블록은 최하단 행에만 배치, 최대 열 수만큼 제한.</w:t>
      </w:r>
    </w:p>
    <w:p>
      <w:pPr>
        <w:spacing w:after="60"/>
      </w:pPr>
      <w:r>
        <w:t xml:space="preserve"/>
      </w:r>
    </w:p>
    <w:p>
      <w:pPr>
        <w:pStyle w:val="Heading1"/>
      </w:pPr>
      <w:r>
        <w:t xml:space="preserve">6. 점수 시스템</w:t>
      </w:r>
    </w:p>
    <w:p>
      <w:pPr>
        <w:spacing w:after="60"/>
      </w:pPr>
      <w:r>
        <w:rPr>
          <w:rFonts w:ascii="Arial" w:cs="Arial" w:eastAsia="Arial" w:hAnsi="Arial"/>
          <w:sz w:val="20"/>
          <w:szCs w:val="20"/>
        </w:rPr>
        <w:t xml:space="preserve">점수는 마이너스가 될 수 있으며, 0점 이하 시 즉시 게임 오버. 블록 파괴로 점수가 오르지 않으며 시간 관리가 핵심이다.</w:t>
      </w:r>
    </w:p>
    <w:p>
      <w:pPr>
        <w:spacing w:after="60"/>
      </w:pPr>
      <w:r>
        <w:t xml:space="preserve"/>
      </w:r>
    </w:p>
    <w:tbl>
      <w:tblPr>
        <w:tblW w:type="dxa" w:w="8400"/>
        <w:tblBorders>
          <w:top w:val="single" w:color="auto" w:sz="4"/>
          <w:left w:val="single" w:color="auto" w:sz="4"/>
          <w:bottom w:val="single" w:color="auto" w:sz="4"/>
          <w:right w:val="single" w:color="auto" w:sz="4"/>
          <w:insideH w:val="single" w:color="auto" w:sz="4"/>
          <w:insideV w:val="single" w:color="auto" w:sz="4"/>
        </w:tblBorders>
      </w:tblPr>
      <w:tblGrid>
        <w:gridCol w:w="3200"/>
        <w:gridCol w:w="5200"/>
      </w:tblGrid>
      <w:tr>
        <w:tc>
          <w:tcPr>
            <w:tcW w:type="dxa" w:w="32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222222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b/>
                <w:bCs/>
                <w:color w:val="FFFFFF"/>
                <w:sz w:val="20"/>
                <w:szCs w:val="20"/>
              </w:rPr>
              <w:t xml:space="preserve">항목</w:t>
            </w:r>
          </w:p>
        </w:tc>
        <w:tc>
          <w:tcPr>
            <w:tcW w:type="dxa" w:w="52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222222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b/>
                <w:bCs/>
                <w:color w:val="FFFFFF"/>
                <w:sz w:val="20"/>
                <w:szCs w:val="20"/>
              </w:rPr>
              <w:t xml:space="preserve">내용</w:t>
            </w:r>
          </w:p>
        </w:tc>
      </w:tr>
      <w:tr>
        <w:tc>
          <w:tcPr>
            <w:tcW w:type="dxa" w:w="32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일반 스테이지 시작 보너스</w:t>
            </w:r>
          </w:p>
        </w:tc>
        <w:tc>
          <w:tcPr>
            <w:tcW w:type="dxa" w:w="52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+1000점</w:t>
            </w:r>
          </w:p>
        </w:tc>
      </w:tr>
      <w:tr>
        <w:tc>
          <w:tcPr>
            <w:tcW w:type="dxa" w:w="32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보스 스테이지 시작 보너스</w:t>
            </w:r>
          </w:p>
        </w:tc>
        <w:tc>
          <w:tcPr>
            <w:tcW w:type="dxa" w:w="52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+5000점</w:t>
            </w:r>
          </w:p>
        </w:tc>
      </w:tr>
      <w:tr>
        <w:tc>
          <w:tcPr>
            <w:tcW w:type="dxa" w:w="32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시간 감산</w:t>
            </w:r>
          </w:p>
        </w:tc>
        <w:tc>
          <w:tcPr>
            <w:tcW w:type="dxa" w:w="52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-1점 / 0.1초 (스테이지 진행 중 실시간 차감)</w:t>
            </w:r>
          </w:p>
        </w:tc>
      </w:tr>
      <w:tr>
        <w:tc>
          <w:tcPr>
            <w:tcW w:type="dxa" w:w="32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점수 하한 게임오버</w:t>
            </w:r>
          </w:p>
        </w:tc>
        <w:tc>
          <w:tcPr>
            <w:tcW w:type="dxa" w:w="52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0점 이하 시 즉시 게임 오버</w:t>
            </w:r>
          </w:p>
        </w:tc>
      </w:tr>
    </w:tbl>
    <w:p>
      <w:pPr>
        <w:spacing w:after="60"/>
      </w:pPr>
      <w:r>
        <w:t xml:space="preserve"/>
      </w:r>
    </w:p>
    <w:p>
      <w:pPr>
        <w:pStyle w:val="Heading1"/>
      </w:pPr>
      <w:r>
        <w:t xml:space="preserve">7. 타이머</w:t>
      </w:r>
    </w:p>
    <w:p>
      <w:pPr>
        <w:spacing w:after="60"/>
      </w:pPr>
      <w:r>
        <w:rPr>
          <w:rFonts w:ascii="Arial" w:cs="Arial" w:eastAsia="Arial" w:hAnsi="Arial"/>
          <w:sz w:val="20"/>
          <w:szCs w:val="20"/>
        </w:rPr>
        <w:t xml:space="preserve">타이머는 보스 스테이지(5스테이지)에서만 HUD에 표시된다. 일반 스테이지는 타이머 UI 없이 점수 감산만 진행된다.</w:t>
      </w:r>
    </w:p>
    <w:p>
      <w:pPr>
        <w:spacing w:after="60"/>
      </w:pPr>
      <w:r>
        <w:t xml:space="preserve"/>
      </w:r>
    </w:p>
    <w:tbl>
      <w:tblPr>
        <w:tblW w:type="dxa" w:w="8400"/>
        <w:tblBorders>
          <w:top w:val="single" w:color="auto" w:sz="4"/>
          <w:left w:val="single" w:color="auto" w:sz="4"/>
          <w:bottom w:val="single" w:color="auto" w:sz="4"/>
          <w:right w:val="single" w:color="auto" w:sz="4"/>
          <w:insideH w:val="single" w:color="auto" w:sz="4"/>
          <w:insideV w:val="single" w:color="auto" w:sz="4"/>
        </w:tblBorders>
      </w:tblPr>
      <w:tblGrid>
        <w:gridCol w:w="2200"/>
        <w:gridCol w:w="1800"/>
        <w:gridCol w:w="2600"/>
        <w:gridCol w:w="1800"/>
      </w:tblGrid>
      <w:tr>
        <w:tc>
          <w:tcPr>
            <w:tcW w:type="dxa" w:w="22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222222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b/>
                <w:bCs/>
                <w:color w:val="FFFFFF"/>
                <w:sz w:val="20"/>
                <w:szCs w:val="20"/>
              </w:rPr>
              <w:t xml:space="preserve">구분</w:t>
            </w:r>
          </w:p>
        </w:tc>
        <w:tc>
          <w:tcPr>
            <w:tcW w:type="dxa" w:w="18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222222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b/>
                <w:bCs/>
                <w:color w:val="FFFFFF"/>
                <w:sz w:val="20"/>
                <w:szCs w:val="20"/>
              </w:rPr>
              <w:t xml:space="preserve">제한 시간</w:t>
            </w:r>
          </w:p>
        </w:tc>
        <w:tc>
          <w:tcPr>
            <w:tcW w:type="dxa" w:w="26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222222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b/>
                <w:bCs/>
                <w:color w:val="FFFFFF"/>
                <w:sz w:val="20"/>
                <w:szCs w:val="20"/>
              </w:rPr>
              <w:t xml:space="preserve">초과 시</w:t>
            </w:r>
          </w:p>
        </w:tc>
        <w:tc>
          <w:tcPr>
            <w:tcW w:type="dxa" w:w="18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222222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b/>
                <w:bCs/>
                <w:color w:val="FFFFFF"/>
                <w:sz w:val="20"/>
                <w:szCs w:val="20"/>
              </w:rPr>
              <w:t xml:space="preserve">HUD 표시</w:t>
            </w:r>
          </w:p>
        </w:tc>
      </w:tr>
      <w:tr>
        <w:tc>
          <w:tcPr>
            <w:tcW w:type="dxa" w:w="22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일반 스테이지 (1–4)</w:t>
            </w:r>
          </w:p>
        </w:tc>
        <w:tc>
          <w:tcPr>
            <w:tcW w:type="dxa" w:w="18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없음</w:t>
            </w:r>
          </w:p>
        </w:tc>
        <w:tc>
          <w:tcPr>
            <w:tcW w:type="dxa" w:w="26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게임 오버 없음 (점수 감산 계속)</w:t>
            </w:r>
          </w:p>
        </w:tc>
        <w:tc>
          <w:tcPr>
            <w:tcW w:type="dxa" w:w="18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표시 안 함</w:t>
            </w:r>
          </w:p>
        </w:tc>
      </w:tr>
      <w:tr>
        <w:tc>
          <w:tcPr>
            <w:tcW w:type="dxa" w:w="22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보스 스테이지 (5)</w:t>
            </w:r>
          </w:p>
        </w:tc>
        <w:tc>
          <w:tcPr>
            <w:tcW w:type="dxa" w:w="18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3분</w:t>
            </w:r>
          </w:p>
        </w:tc>
        <w:tc>
          <w:tcPr>
            <w:tcW w:type="dxa" w:w="26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즉시 게임 오버</w:t>
            </w:r>
          </w:p>
        </w:tc>
        <w:tc>
          <w:tcPr>
            <w:tcW w:type="dxa" w:w="18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스테이지와 점수 사이에 카운트다운 표시</w:t>
            </w:r>
          </w:p>
        </w:tc>
      </w:tr>
    </w:tbl>
    <w:p>
      <w:pPr>
        <w:spacing w:after="60"/>
      </w:pPr>
      <w:r>
        <w:t xml:space="preserve"/>
      </w:r>
    </w:p>
    <w:p>
      <w:pPr>
        <w:pStyle w:val="Heading1"/>
      </w:pPr>
      <w:r>
        <w:t xml:space="preserve">8. 골드</w:t>
      </w:r>
    </w:p>
    <w:tbl>
      <w:tblPr>
        <w:tblW w:type="dxa" w:w="8400"/>
        <w:tblBorders>
          <w:top w:val="single" w:color="auto" w:sz="4"/>
          <w:left w:val="single" w:color="auto" w:sz="4"/>
          <w:bottom w:val="single" w:color="auto" w:sz="4"/>
          <w:right w:val="single" w:color="auto" w:sz="4"/>
          <w:insideH w:val="single" w:color="auto" w:sz="4"/>
          <w:insideV w:val="single" w:color="auto" w:sz="4"/>
        </w:tblBorders>
      </w:tblPr>
      <w:tblGrid>
        <w:gridCol w:w="3000"/>
        <w:gridCol w:w="5400"/>
      </w:tblGrid>
      <w:tr>
        <w:tc>
          <w:tcPr>
            <w:tcW w:type="dxa" w:w="3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222222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b/>
                <w:bCs/>
                <w:color w:val="FFFFFF"/>
                <w:sz w:val="20"/>
                <w:szCs w:val="20"/>
              </w:rPr>
              <w:t xml:space="preserve">항목</w:t>
            </w:r>
          </w:p>
        </w:tc>
        <w:tc>
          <w:tcPr>
            <w:tcW w:type="dxa" w:w="5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222222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b/>
                <w:bCs/>
                <w:color w:val="FFFFFF"/>
                <w:sz w:val="20"/>
                <w:szCs w:val="20"/>
              </w:rPr>
              <w:t xml:space="preserve">내용</w:t>
            </w:r>
          </w:p>
        </w:tc>
      </w:tr>
      <w:tr>
        <w:tc>
          <w:tcPr>
            <w:tcW w:type="dxa" w:w="3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일반 블록 골드</w:t>
            </w:r>
          </w:p>
        </w:tc>
        <w:tc>
          <w:tcPr>
            <w:tcW w:type="dxa" w:w="5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1G</w:t>
            </w:r>
          </w:p>
        </w:tc>
      </w:tr>
      <w:tr>
        <w:tc>
          <w:tcPr>
            <w:tcW w:type="dxa" w:w="3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황금 블록 골드</w:t>
            </w:r>
          </w:p>
        </w:tc>
        <w:tc>
          <w:tcPr>
            <w:tcW w:type="dxa" w:w="5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5G</w:t>
            </w:r>
          </w:p>
        </w:tc>
      </w:tr>
      <w:tr>
        <w:tc>
          <w:tcPr>
            <w:tcW w:type="dxa" w:w="3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골드 배수</w:t>
            </w:r>
          </w:p>
        </w:tc>
        <w:tc>
          <w:tcPr>
            <w:tcW w:type="dxa" w:w="5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아이템으로 증가 가능 (기본 ×1)</w:t>
            </w:r>
          </w:p>
        </w:tc>
      </w:tr>
    </w:tbl>
    <w:p>
      <w:pPr>
        <w:spacing w:after="60"/>
      </w:pPr>
      <w:r>
        <w:t xml:space="preserve"/>
      </w:r>
    </w:p>
    <w:p>
      <w:pPr>
        <w:pStyle w:val="Heading1"/>
      </w:pPr>
      <w:r>
        <w:t xml:space="preserve">9. 상점 시스템</w:t>
      </w:r>
    </w:p>
    <w:p>
      <w:pPr>
        <w:spacing w:after="60"/>
      </w:pPr>
      <w:r>
        <w:rPr>
          <w:rFonts w:ascii="Arial" w:cs="Arial" w:eastAsia="Arial" w:hAnsi="Arial"/>
          <w:sz w:val="20"/>
          <w:szCs w:val="20"/>
        </w:rPr>
        <w:t xml:space="preserve">스테이지 클리어 후 상점이 열린다. 영구 업그레이드 구매 + 무작위 아이템 1개 선택 후 다음 스테이지로 진행.</w:t>
      </w:r>
    </w:p>
    <w:p>
      <w:pPr>
        <w:spacing w:after="60"/>
      </w:pPr>
      <w:r>
        <w:t xml:space="preserve"/>
      </w:r>
    </w:p>
    <w:p>
      <w:pPr>
        <w:pStyle w:val="Heading2"/>
      </w:pPr>
      <w:r>
        <w:t xml:space="preserve">9-1. 영구 업그레이드</w:t>
      </w:r>
    </w:p>
    <w:tbl>
      <w:tblPr>
        <w:tblW w:type="dxa" w:w="8400"/>
        <w:tblBorders>
          <w:top w:val="single" w:color="auto" w:sz="4"/>
          <w:left w:val="single" w:color="auto" w:sz="4"/>
          <w:bottom w:val="single" w:color="auto" w:sz="4"/>
          <w:right w:val="single" w:color="auto" w:sz="4"/>
          <w:insideH w:val="single" w:color="auto" w:sz="4"/>
          <w:insideV w:val="single" w:color="auto" w:sz="4"/>
        </w:tblBorders>
      </w:tblPr>
      <w:tblGrid>
        <w:gridCol w:w="2400"/>
        <w:gridCol w:w="2400"/>
        <w:gridCol w:w="1800"/>
        <w:gridCol w:w="1800"/>
      </w:tblGrid>
      <w:tr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222222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b/>
                <w:bCs/>
                <w:color w:val="FFFFFF"/>
                <w:sz w:val="20"/>
                <w:szCs w:val="20"/>
              </w:rPr>
              <w:t xml:space="preserve">항목</w:t>
            </w:r>
          </w:p>
        </w:tc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222222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b/>
                <w:bCs/>
                <w:color w:val="FFFFFF"/>
                <w:sz w:val="20"/>
                <w:szCs w:val="20"/>
              </w:rPr>
              <w:t xml:space="preserve">효과</w:t>
            </w:r>
          </w:p>
        </w:tc>
        <w:tc>
          <w:tcPr>
            <w:tcW w:type="dxa" w:w="18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222222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b/>
                <w:bCs/>
                <w:color w:val="FFFFFF"/>
                <w:sz w:val="20"/>
                <w:szCs w:val="20"/>
              </w:rPr>
              <w:t xml:space="preserve">초기 가격</w:t>
            </w:r>
          </w:p>
        </w:tc>
        <w:tc>
          <w:tcPr>
            <w:tcW w:type="dxa" w:w="18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222222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b/>
                <w:bCs/>
                <w:color w:val="FFFFFF"/>
                <w:sz w:val="20"/>
                <w:szCs w:val="20"/>
              </w:rPr>
              <w:t xml:space="preserve">가격 증가</w:t>
            </w:r>
          </w:p>
        </w:tc>
      </w:tr>
      <w:tr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공 데미지 +1</w:t>
            </w:r>
          </w:p>
        </w:tc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다음 스테이지부터 적용</w:t>
            </w:r>
          </w:p>
        </w:tc>
        <w:tc>
          <w:tcPr>
            <w:tcW w:type="dxa" w:w="18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5G</w:t>
            </w:r>
          </w:p>
        </w:tc>
        <w:tc>
          <w:tcPr>
            <w:tcW w:type="dxa" w:w="18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+5G / 구매</w:t>
            </w:r>
          </w:p>
        </w:tc>
      </w:tr>
      <w:tr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패드 크기 +20</w:t>
            </w:r>
          </w:p>
        </w:tc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패드 너비 증가</w:t>
            </w:r>
          </w:p>
        </w:tc>
        <w:tc>
          <w:tcPr>
            <w:tcW w:type="dxa" w:w="18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5G</w:t>
            </w:r>
          </w:p>
        </w:tc>
        <w:tc>
          <w:tcPr>
            <w:tcW w:type="dxa" w:w="18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+5G / 구매</w:t>
            </w:r>
          </w:p>
        </w:tc>
      </w:tr>
      <w:tr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황금 타일 +2</w:t>
            </w:r>
          </w:p>
        </w:tc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다음 스테이지 황금 타일 +2개 증가</w:t>
            </w:r>
          </w:p>
        </w:tc>
        <w:tc>
          <w:tcPr>
            <w:tcW w:type="dxa" w:w="18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5G</w:t>
            </w:r>
          </w:p>
        </w:tc>
        <w:tc>
          <w:tcPr>
            <w:tcW w:type="dxa" w:w="18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+5G / 구매</w:t>
            </w:r>
          </w:p>
        </w:tc>
      </w:tr>
      <w:tr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보호막</w:t>
            </w:r>
          </w:p>
        </w:tc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공 1회 낙사 방어</w:t>
            </w:r>
          </w:p>
        </w:tc>
        <w:tc>
          <w:tcPr>
            <w:tcW w:type="dxa" w:w="18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20G</w:t>
            </w:r>
          </w:p>
        </w:tc>
        <w:tc>
          <w:tcPr>
            <w:tcW w:type="dxa" w:w="18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고정 (1회성)</w:t>
            </w:r>
          </w:p>
        </w:tc>
      </w:tr>
    </w:tbl>
    <w:p>
      <w:pPr>
        <w:spacing w:after="60"/>
      </w:pPr>
      <w:r>
        <w:t xml:space="preserve"/>
      </w:r>
    </w:p>
    <w:p>
      <w:pPr>
        <w:pStyle w:val="Heading2"/>
      </w:pPr>
      <w:r>
        <w:t xml:space="preserve">9-2. 무작위 아이템 (스테이지 클리어마다 3개 중 1개 선택)</w:t>
      </w:r>
    </w:p>
    <w:tbl>
      <w:tblPr>
        <w:tblW w:type="dxa" w:w="8400"/>
        <w:tblBorders>
          <w:top w:val="single" w:color="auto" w:sz="4"/>
          <w:left w:val="single" w:color="auto" w:sz="4"/>
          <w:bottom w:val="single" w:color="auto" w:sz="4"/>
          <w:right w:val="single" w:color="auto" w:sz="4"/>
          <w:insideH w:val="single" w:color="auto" w:sz="4"/>
          <w:insideV w:val="single" w:color="auto" w:sz="4"/>
        </w:tblBorders>
      </w:tblPr>
      <w:tblGrid>
        <w:gridCol w:w="2400"/>
        <w:gridCol w:w="6000"/>
      </w:tblGrid>
      <w:tr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222222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b/>
                <w:bCs/>
                <w:color w:val="FFFFFF"/>
                <w:sz w:val="20"/>
                <w:szCs w:val="20"/>
              </w:rPr>
              <w:t xml:space="preserve">아이템</w:t>
            </w:r>
          </w:p>
        </w:tc>
        <w:tc>
          <w:tcPr>
            <w:tcW w:type="dxa" w:w="6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222222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b/>
                <w:bCs/>
                <w:color w:val="FFFFFF"/>
                <w:sz w:val="20"/>
                <w:szCs w:val="20"/>
              </w:rPr>
              <w:t xml:space="preserve">효과</w:t>
            </w:r>
          </w:p>
        </w:tc>
      </w:tr>
      <w:tr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소형 공</w:t>
            </w:r>
          </w:p>
        </w:tc>
        <w:tc>
          <w:tcPr>
            <w:tcW w:type="dxa" w:w="6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3회 충돌마다 5회 반사하는 소형 공 1개 생성</w:t>
            </w:r>
          </w:p>
        </w:tc>
      </w:tr>
      <w:tr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강화 공</w:t>
            </w:r>
          </w:p>
        </w:tc>
        <w:tc>
          <w:tcPr>
            <w:tcW w:type="dxa" w:w="6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공 크기 +50%, 데미지 +100%</w:t>
            </w:r>
          </w:p>
        </w:tc>
      </w:tr>
      <w:tr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파괴자</w:t>
            </w:r>
          </w:p>
        </w:tc>
        <w:tc>
          <w:tcPr>
            <w:tcW w:type="dxa" w:w="6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파괴 불가 블록 관통</w:t>
            </w:r>
          </w:p>
        </w:tc>
      </w:tr>
      <w:tr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폭발</w:t>
            </w:r>
          </w:p>
        </w:tc>
        <w:tc>
          <w:tcPr>
            <w:tcW w:type="dxa" w:w="6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충돌 시 인접 블록에 50% 스플래시 데미지</w:t>
            </w:r>
          </w:p>
        </w:tc>
      </w:tr>
      <w:tr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저격</w:t>
            </w:r>
          </w:p>
        </w:tc>
        <w:tc>
          <w:tcPr>
            <w:tcW w:type="dxa" w:w="6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5초마다 가장 가까운 블록으로 저격 공 발사 (메인 공 2배 속도, 충돌 시 소멸)</w:t>
            </w:r>
          </w:p>
        </w:tc>
      </w:tr>
      <w:tr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쾌속</w:t>
            </w:r>
          </w:p>
        </w:tc>
        <w:tc>
          <w:tcPr>
            <w:tcW w:type="dxa" w:w="6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공 속도 +100%, 골드 획득 +200%</w:t>
            </w:r>
          </w:p>
        </w:tc>
      </w:tr>
      <w:tr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돌격</w:t>
            </w:r>
          </w:p>
        </w:tc>
        <w:tc>
          <w:tcPr>
            <w:tcW w:type="dxa" w:w="6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첫 벽 충돌 전까지 블록 통과 (데미지 없음)</w:t>
            </w:r>
          </w:p>
        </w:tc>
      </w:tr>
      <w:tr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도전</w:t>
            </w:r>
          </w:p>
        </w:tc>
        <w:tc>
          <w:tcPr>
            <w:tcW w:type="dxa" w:w="6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패드 크기 -50%, 골드 획득 +150%</w:t>
            </w:r>
          </w:p>
        </w:tc>
      </w:tr>
      <w:tr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연사</w:t>
            </w:r>
          </w:p>
        </w:tc>
        <w:tc>
          <w:tcPr>
            <w:tcW w:type="dxa" w:w="6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1초마다 가장 가까운 블록으로 연사 공 발사 (데미지 0.2배, 충돌 시 소멸)</w:t>
            </w:r>
          </w:p>
        </w:tc>
      </w:tr>
      <w:tr>
        <w:tc>
          <w:tcPr>
            <w:tcW w:type="dxa" w:w="2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분신술</w:t>
            </w:r>
          </w:p>
        </w:tc>
        <w:tc>
          <w:tcPr>
            <w:tcW w:type="dxa" w:w="6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스테이지 시작 40초 후 메인 공을 1개 복제 (1회성)</w:t>
            </w:r>
          </w:p>
        </w:tc>
      </w:tr>
    </w:tbl>
    <w:p>
      <w:pPr>
        <w:spacing w:after="60"/>
      </w:pPr>
      <w:r>
        <w:t xml:space="preserve"/>
      </w:r>
    </w:p>
    <w:p>
      <w:pPr>
        <w:pStyle w:val="Heading1"/>
      </w:pPr>
      <w:r>
        <w:t xml:space="preserve">10. 설정</w:t>
      </w:r>
    </w:p>
    <w:tbl>
      <w:tblPr>
        <w:tblW w:type="dxa" w:w="8400"/>
        <w:tblBorders>
          <w:top w:val="single" w:color="auto" w:sz="4"/>
          <w:left w:val="single" w:color="auto" w:sz="4"/>
          <w:bottom w:val="single" w:color="auto" w:sz="4"/>
          <w:right w:val="single" w:color="auto" w:sz="4"/>
          <w:insideH w:val="single" w:color="auto" w:sz="4"/>
          <w:insideV w:val="single" w:color="auto" w:sz="4"/>
        </w:tblBorders>
      </w:tblPr>
      <w:tblGrid>
        <w:gridCol w:w="3000"/>
        <w:gridCol w:w="5400"/>
      </w:tblGrid>
      <w:tr>
        <w:tc>
          <w:tcPr>
            <w:tcW w:type="dxa" w:w="3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222222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b/>
                <w:bCs/>
                <w:color w:val="FFFFFF"/>
                <w:sz w:val="20"/>
                <w:szCs w:val="20"/>
              </w:rPr>
              <w:t xml:space="preserve">설정 항목</w:t>
            </w:r>
          </w:p>
        </w:tc>
        <w:tc>
          <w:tcPr>
            <w:tcW w:type="dxa" w:w="5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222222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b/>
                <w:bCs/>
                <w:color w:val="FFFFFF"/>
                <w:sz w:val="20"/>
                <w:szCs w:val="20"/>
              </w:rPr>
              <w:t xml:space="preserve">선택지</w:t>
            </w:r>
          </w:p>
        </w:tc>
      </w:tr>
      <w:tr>
        <w:tc>
          <w:tcPr>
            <w:tcW w:type="dxa" w:w="3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색상 프리셋</w:t>
            </w:r>
          </w:p>
        </w:tc>
        <w:tc>
          <w:tcPr>
            <w:tcW w:type="dxa" w:w="5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기본 / 파스텔톤 / 형광색</w:t>
            </w:r>
          </w:p>
        </w:tc>
      </w:tr>
      <w:tr>
        <w:tc>
          <w:tcPr>
            <w:tcW w:type="dxa" w:w="3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배경 테마</w:t>
            </w:r>
          </w:p>
        </w:tc>
        <w:tc>
          <w:tcPr>
            <w:tcW w:type="dxa" w:w="5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기본(흰색) / 우주 / 숲</w:t>
            </w:r>
          </w:p>
        </w:tc>
      </w:tr>
      <w:tr>
        <w:tc>
          <w:tcPr>
            <w:tcW w:type="dxa" w:w="3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BGM</w:t>
            </w:r>
          </w:p>
        </w:tc>
        <w:tc>
          <w:tcPr>
            <w:tcW w:type="dxa" w:w="5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켜기 / 끄기</w:t>
            </w:r>
          </w:p>
        </w:tc>
      </w:tr>
      <w:tr>
        <w:tc>
          <w:tcPr>
            <w:tcW w:type="dxa" w:w="30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효과음</w:t>
            </w:r>
          </w:p>
        </w:tc>
        <w:tc>
          <w:tcPr>
            <w:tcW w:type="dxa" w:w="54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켜기 / 끄기</w:t>
            </w:r>
          </w:p>
        </w:tc>
      </w:tr>
    </w:tbl>
    <w:p>
      <w:pPr>
        <w:spacing w:after="60"/>
      </w:pPr>
      <w:r>
        <w:t xml:space="preserve"/>
      </w:r>
    </w:p>
    <w:p>
      <w:pPr>
        <w:pStyle w:val="Heading1"/>
      </w:pPr>
      <w:r>
        <w:t xml:space="preserve">11. 게임 흐름</w:t>
      </w:r>
    </w:p>
    <w:p>
      <w:pPr>
        <w:spacing w:after="40"/>
        <w:ind w:left="360"/>
      </w:pPr>
      <w:r>
        <w:rPr>
          <w:rFonts w:ascii="Arial" w:cs="Arial" w:eastAsia="Arial" w:hAnsi="Arial"/>
          <w:sz w:val="20"/>
          <w:szCs w:val="20"/>
        </w:rPr>
        <w:t xml:space="preserve">• 메인 화면 → 설정 선택 → [새 게임]</w:t>
      </w:r>
    </w:p>
    <w:p>
      <w:pPr>
        <w:spacing w:after="40"/>
        <w:ind w:left="360"/>
      </w:pPr>
      <w:r>
        <w:rPr>
          <w:rFonts w:ascii="Arial" w:cs="Arial" w:eastAsia="Arial" w:hAnsi="Arial"/>
          <w:sz w:val="20"/>
          <w:szCs w:val="20"/>
        </w:rPr>
        <w:t xml:space="preserve">• 시작 버튼 → 게임 플레이 (마우스로 패드 조작, 스테이지 시작 보너스 적용, 타이머 시작)</w:t>
      </w:r>
    </w:p>
    <w:p>
      <w:pPr>
        <w:spacing w:after="40"/>
        <w:ind w:left="360"/>
      </w:pPr>
      <w:r>
        <w:rPr>
          <w:rFonts w:ascii="Arial" w:cs="Arial" w:eastAsia="Arial" w:hAnsi="Arial"/>
          <w:sz w:val="20"/>
          <w:szCs w:val="20"/>
        </w:rPr>
        <w:t xml:space="preserve">• 스테이지 클리어 → 상점 (업그레이드 + 아이템 선택) → 다음 스테이지</w:t>
      </w:r>
    </w:p>
    <w:p>
      <w:pPr>
        <w:spacing w:after="40"/>
        <w:ind w:left="360"/>
      </w:pPr>
      <w:r>
        <w:rPr>
          <w:rFonts w:ascii="Arial" w:cs="Arial" w:eastAsia="Arial" w:hAnsi="Arial"/>
          <w:sz w:val="20"/>
          <w:szCs w:val="20"/>
        </w:rPr>
        <w:t xml:space="preserve">• 공 낙사 시 Game Over (보호막 보유 시 1회 구제)</w:t>
      </w:r>
    </w:p>
    <w:p>
      <w:pPr>
        <w:spacing w:after="40"/>
        <w:ind w:left="360"/>
      </w:pPr>
      <w:r>
        <w:rPr>
          <w:rFonts w:ascii="Arial" w:cs="Arial" w:eastAsia="Arial" w:hAnsi="Arial"/>
          <w:sz w:val="20"/>
          <w:szCs w:val="20"/>
        </w:rPr>
        <w:t xml:space="preserve">• 점수 0점 이하 시 즉시 Game Over</w:t>
      </w:r>
    </w:p>
    <w:p>
      <w:pPr>
        <w:spacing w:after="40"/>
        <w:ind w:left="360"/>
      </w:pPr>
      <w:r>
        <w:rPr>
          <w:rFonts w:ascii="Arial" w:cs="Arial" w:eastAsia="Arial" w:hAnsi="Arial"/>
          <w:sz w:val="20"/>
          <w:szCs w:val="20"/>
        </w:rPr>
        <w:t xml:space="preserve">• 보스 스테이지 3분 초과 시 Game Over</w:t>
      </w:r>
    </w:p>
    <w:p>
      <w:pPr>
        <w:spacing w:after="40"/>
        <w:ind w:left="360"/>
      </w:pPr>
      <w:r>
        <w:rPr>
          <w:rFonts w:ascii="Arial" w:cs="Arial" w:eastAsia="Arial" w:hAnsi="Arial"/>
          <w:sz w:val="20"/>
          <w:szCs w:val="20"/>
        </w:rPr>
        <w:t xml:space="preserve">• 5스테이지(보스) 클리어 → Winner! (최종 점수 표시)</w:t>
      </w:r>
    </w:p>
    <w:p>
      <w:pPr>
        <w:spacing w:after="60"/>
      </w:pPr>
      <w:r>
        <w:t xml:space="preserve"/>
      </w:r>
    </w:p>
    <w:p>
      <w:pPr>
        <w:pStyle w:val="Heading1"/>
      </w:pPr>
      <w:r>
        <w:t xml:space="preserve">12. 기술 사항</w:t>
      </w:r>
    </w:p>
    <w:tbl>
      <w:tblPr>
        <w:tblW w:type="dxa" w:w="8400"/>
        <w:tblBorders>
          <w:top w:val="single" w:color="auto" w:sz="4"/>
          <w:left w:val="single" w:color="auto" w:sz="4"/>
          <w:bottom w:val="single" w:color="auto" w:sz="4"/>
          <w:right w:val="single" w:color="auto" w:sz="4"/>
          <w:insideH w:val="single" w:color="auto" w:sz="4"/>
          <w:insideV w:val="single" w:color="auto" w:sz="4"/>
        </w:tblBorders>
      </w:tblPr>
      <w:tblGrid>
        <w:gridCol w:w="2800"/>
        <w:gridCol w:w="5600"/>
      </w:tblGrid>
      <w:tr>
        <w:tc>
          <w:tcPr>
            <w:tcW w:type="dxa" w:w="28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222222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b/>
                <w:bCs/>
                <w:color w:val="FFFFFF"/>
                <w:sz w:val="20"/>
                <w:szCs w:val="20"/>
              </w:rPr>
              <w:t xml:space="preserve">항목</w:t>
            </w:r>
          </w:p>
        </w:tc>
        <w:tc>
          <w:tcPr>
            <w:tcW w:type="dxa" w:w="56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222222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b/>
                <w:bCs/>
                <w:color w:val="FFFFFF"/>
                <w:sz w:val="20"/>
                <w:szCs w:val="20"/>
              </w:rPr>
              <w:t xml:space="preserve">내용</w:t>
            </w:r>
          </w:p>
        </w:tc>
      </w:tr>
      <w:tr>
        <w:tc>
          <w:tcPr>
            <w:tcW w:type="dxa" w:w="28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충돌 감지</w:t>
            </w:r>
          </w:p>
        </w:tc>
        <w:tc>
          <w:tcPr>
            <w:tcW w:type="dxa" w:w="56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AABB(축 정렬 경계 상자) 기반, 최소 겹침 방향으로 반사</w:t>
            </w:r>
          </w:p>
        </w:tc>
      </w:tr>
      <w:tr>
        <w:tc>
          <w:tcPr>
            <w:tcW w:type="dxa" w:w="28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터널링 방지</w:t>
            </w:r>
          </w:p>
        </w:tc>
        <w:tc>
          <w:tcPr>
            <w:tcW w:type="dxa" w:w="56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패드 충돌 시 이전 프레임·현재 프레임 경로 보간으로 관통 방지</w:t>
            </w:r>
          </w:p>
        </w:tc>
      </w:tr>
      <w:tr>
        <w:tc>
          <w:tcPr>
            <w:tcW w:type="dxa" w:w="28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프레임 독립</w:t>
            </w:r>
          </w:p>
        </w:tc>
        <w:tc>
          <w:tcPr>
            <w:tcW w:type="dxa" w:w="56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rAF timestamp → dt = Δt / 16.667 ms, 최대 3배 클램프</w:t>
            </w:r>
          </w:p>
        </w:tc>
      </w:tr>
      <w:tr>
        <w:tc>
          <w:tcPr>
            <w:tcW w:type="dxa" w:w="28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고해상도 렌더링</w:t>
            </w:r>
          </w:p>
        </w:tc>
        <w:tc>
          <w:tcPr>
            <w:tcW w:type="dxa" w:w="56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devicePixelRatio 적용, Canvas 물리 크기 × dpr로 선명하게 렌더링</w:t>
            </w:r>
          </w:p>
        </w:tc>
      </w:tr>
      <w:tr>
        <w:tc>
          <w:tcPr>
            <w:tcW w:type="dxa" w:w="28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오디오</w:t>
            </w:r>
          </w:p>
        </w:tc>
        <w:tc>
          <w:tcPr>
            <w:tcW w:type="dxa" w:w="56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Web Audio API (OscillatorNode) 기반 효과음, &lt;audio&gt; 태그 BGM</w:t>
            </w:r>
          </w:p>
        </w:tc>
      </w:tr>
      <w:tr>
        <w:tc>
          <w:tcPr>
            <w:tcW w:type="dxa" w:w="28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패드 스핀</w:t>
            </w:r>
          </w:p>
        </w:tc>
        <w:tc>
          <w:tcPr>
            <w:tcW w:type="dxa" w:w="5600"/>
            <w:tcBorders>
              <w:top w:val="single" w:color="999999" w:sz="1"/>
              <w:left w:val="single" w:color="999999" w:sz="1"/>
              <w:bottom w:val="single" w:color="999999" w:sz="1"/>
              <w:right w:val="single" w:color="999999" w:sz="1"/>
            </w:tcBorders>
            <w:shd w:fill="F4F4F4" w:val="clear"/>
            <w:tcMar>
              <w:top w:type="dxa" w:w="80"/>
              <w:left w:type="dxa" w:w="120"/>
              <w:bottom w:type="dxa" w:w="80"/>
              <w:right w:type="dxa" w:w="120"/>
            </w:tcMar>
            <w:vAlign w:val="center"/>
          </w:tcPr>
          <w:p>
            <w:r>
              <w:rPr>
                <w:rFonts w:ascii="Arial" w:cs="Arial" w:eastAsia="Arial" w:hAnsi="Arial"/>
                <w:sz w:val="19"/>
                <w:szCs w:val="19"/>
              </w:rPr>
              <w:t xml:space="preserve">최근 100ms 이동 속도 평균으로 반사각 보정 (최대 ±45°)</w:t>
            </w:r>
          </w:p>
        </w:tc>
      </w:tr>
    </w:tbl>
    <w:sectPr>
      <w:pgSz w:w="12240" w:h="15840" w:orient="portrait"/>
      <w:pgMar w:top="1440" w:right="1440" w:bottom="1440" w:left="1440" w:header="708" w:footer="708" w:gutter="0"/>
      <w:pgNumType/>
      <w:docGrid w:linePitch="360"/>
    </w:sectPr>
  </w:body>
</w:document>
</file>

<file path=word/comments.xml><?xml version="1.0" encoding="utf-8"?>
<w:comments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mc="http://schemas.openxmlformats.org/markup-compatibility/2006" xmlns:aink="http://schemas.microsoft.com/office/drawing/2016/ink" xmlns:am3d="http://schemas.microsoft.com/office/drawing/2017/model3d" xmlns:o="urn:schemas-microsoft-com:office:office" xmlns:r="http://schemas.openxmlformats.org/officeDocument/2006/relationships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/>
</file>

<file path=word/endnotes.xml><?xml version="1.0" encoding="utf-8"?>
<w:endnotes xmlns:wpc="http://schemas.microsoft.com/office/word/2010/wordprocessingCanvas" xmlns:mc="http://schemas.openxmlformats.org/markup-compatibility/2006" xmlns:o="urn:schemas-microsoft-com:office:office" xmlns:r="http://schemas.openxmlformats.org/officeDocument/2006/relationships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mc:Ignorable="w14 w15 wp14">
  <w:endnote w:type="separator" w:id="-1">
    <w:p>
      <w:pPr>
        <w:spacing w:after="0" w:line="240" w:lineRule="auto"/>
      </w:pPr>
      <w:r>
        <w:rPr>
          <w:rStyle w:val="EndnoteReference"/>
        </w:rPr>
        <w:endnoteRef/>
      </w:r>
      <w:r>
        <w:separator/>
      </w:r>
    </w:p>
  </w:endnote>
  <w:endnote w:type="continuationSeparator" w:id="0">
    <w:p>
      <w:pPr>
        <w:spacing w:after="0" w:line="240" w:lineRule="auto"/>
      </w:pPr>
      <w:r>
        <w:rPr>
          <w:rStyle w:val="EndnoteReference"/>
        </w:rPr>
        <w:endnoteRef/>
      </w:r>
      <w:r>
        <w:continuationSeparator/>
      </w:r>
    </w:p>
  </w:endnote>
</w:endnotes>
</file>

<file path=word/fontTable.xml><?xml version="1.0" encoding="utf-8"?>
<w:fonts xmlns:mc="http://schemas.openxmlformats.org/markup-compatibility/2006" xmlns:r="http://schemas.openxmlformats.org/officeDocument/2006/relationships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mc:Ignorable="w14 w15 w16se w16cid w16 w16cex w16sdtdh"/>
</file>

<file path=word/footnotes.xml><?xml version="1.0" encoding="utf-8"?>
<w:footnotes xmlns:wpc="http://schemas.microsoft.com/office/word/2010/wordprocessingCanvas" xmlns:mc="http://schemas.openxmlformats.org/markup-compatibility/2006" xmlns:o="urn:schemas-microsoft-com:office:office" xmlns:r="http://schemas.openxmlformats.org/officeDocument/2006/relationships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mc:Ignorable="w14 w15 wp14">
  <w:footnote w:type="separator" w:id="-1">
    <w:p>
      <w:pPr>
        <w:spacing w:after="0" w:line="240" w:lineRule="auto"/>
      </w:pPr>
      <w:r>
        <w:rPr>
          <w:rStyle w:val="FootnoteReference"/>
        </w:rPr>
        <w:footnoteRef/>
      </w:r>
      <w:r>
        <w:separator/>
      </w:r>
    </w:p>
  </w:footnote>
  <w:footnote w:type="continuationSeparator" w:id="0">
    <w:p>
      <w:pPr>
        <w:spacing w:after="0" w:line="240" w:lineRule="auto"/>
      </w:pPr>
      <w:r>
        <w:rPr>
          <w:rStyle w:val="FootnoteReference"/>
        </w:rPr>
        <w:footnoteRef/>
      </w:r>
      <w:r>
        <w:continuationSeparator/>
      </w:r>
    </w:p>
  </w:footnote>
</w:footnotes>
</file>

<file path=word/numbering.xml><?xml version="1.0" encoding="utf-8"?>
<w:numbering xmlns:wpc="http://schemas.microsoft.com/office/word/2010/wordprocessingCanvas" xmlns:mc="http://schemas.openxmlformats.org/markup-compatibility/2006" xmlns:o="urn:schemas-microsoft-com:office:office" xmlns:r="http://schemas.openxmlformats.org/officeDocument/2006/relationships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mc:Ignorable="w14 w15 wp14">
  <w:abstractNum w:abstractNumId="1" w15:restartNumberingAfterBreak="0">
    <w:multiLevelType w:val="hybridMultilevel"/>
    <w:lvl w:ilvl="0" w15:tentative="1">
      <w:start w:val="1"/>
      <w:numFmt w:val="bullet"/>
      <w:lvlText w:val="●"/>
      <w:lvlJc w:val="left"/>
      <w:pPr>
        <w:ind w:left="720" w:hanging="360"/>
      </w:pPr>
    </w:lvl>
    <w:lvl w:ilvl="1" w15:tentative="1">
      <w:start w:val="1"/>
      <w:numFmt w:val="bullet"/>
      <w:lvlText w:val="○"/>
      <w:lvlJc w:val="left"/>
      <w:pPr>
        <w:ind w:left="1440" w:hanging="360"/>
      </w:pPr>
    </w:lvl>
    <w:lvl w:ilvl="2" w15:tentative="1">
      <w:start w:val="1"/>
      <w:numFmt w:val="bullet"/>
      <w:lvlText w:val="■"/>
      <w:lvlJc w:val="left"/>
      <w:pPr>
        <w:ind w:left="2160" w:hanging="360"/>
      </w:pPr>
    </w:lvl>
    <w:lvl w:ilvl="3" w15:tentative="1">
      <w:start w:val="1"/>
      <w:numFmt w:val="bullet"/>
      <w:lvlText w:val="●"/>
      <w:lvlJc w:val="left"/>
      <w:pPr>
        <w:ind w:left="2880" w:hanging="360"/>
      </w:pPr>
    </w:lvl>
    <w:lvl w:ilvl="4" w15:tentative="1">
      <w:start w:val="1"/>
      <w:numFmt w:val="bullet"/>
      <w:lvlText w:val="○"/>
      <w:lvlJc w:val="left"/>
      <w:pPr>
        <w:ind w:left="3600" w:hanging="360"/>
      </w:pPr>
    </w:lvl>
    <w:lvl w:ilvl="5" w15:tentative="1">
      <w:start w:val="1"/>
      <w:numFmt w:val="bullet"/>
      <w:lvlText w:val="■"/>
      <w:lvlJc w:val="left"/>
      <w:pPr>
        <w:ind w:left="4320" w:hanging="360"/>
      </w:pPr>
    </w:lvl>
    <w:lvl w:ilvl="6" w15:tentative="1">
      <w:start w:val="1"/>
      <w:numFmt w:val="bullet"/>
      <w:lvlText w:val="●"/>
      <w:lvlJc w:val="left"/>
      <w:pPr>
        <w:ind w:left="5040" w:hanging="360"/>
      </w:pPr>
    </w:lvl>
    <w:lvl w:ilvl="7" w15:tentative="1">
      <w:start w:val="1"/>
      <w:numFmt w:val="bullet"/>
      <w:lvlText w:val="●"/>
      <w:lvlJc w:val="left"/>
      <w:pPr>
        <w:ind w:left="5760" w:hanging="360"/>
      </w:pPr>
    </w:lvl>
    <w:lvl w:ilvl="8" w15:tentative="1">
      <w:start w:val="1"/>
      <w:numFmt w:val="bullet"/>
      <w:lvlText w:val="●"/>
      <w:lvlJc w:val="left"/>
      <w:pPr>
        <w:ind w:left="6480" w:hanging="360"/>
      </w:pPr>
    </w:lvl>
  </w:abstractNum>
  <w:num w:numId="1">
    <w:abstractNumId w:val="1"/>
    <w:lvlOverride w:ilvl="0">
      <w:startOverride w:val="1"/>
    </w:lvlOverride>
  </w:num>
</w:numbering>
</file>

<file path=word/settings.xml><?xml version="1.0" encoding="utf-8"?>
<w:settings xmlns:wpc="http://schemas.microsoft.com/office/word/2010/wordprocessingCanvas" xmlns:mc="http://schemas.openxmlformats.org/markup-compatibility/2006" xmlns:o="urn:schemas-microsoft-com:office:office" xmlns:r="http://schemas.openxmlformats.org/officeDocument/2006/relationships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mc:Ignorable="w14 w15 wp14">
  <w:displayBackgroundShape/>
  <w:evenAndOddHeaders w:val="false"/>
  <w:compat>
    <w:compatSetting w:val="15" w:name="compatibilityMode" w:uri="http://schemas.microsoft.com/office/word"/>
  </w:compat>
</w:settings>
</file>

<file path=word/styles.xml><?xml version="1.0" encoding="utf-8"?>
<w:styles xmlns:mc="http://schemas.openxmlformats.org/markup-compatibility/2006" xmlns:r="http://schemas.openxmlformats.org/officeDocument/2006/relationships" xmlns:w="http://schemas.openxmlformats.org/wordprocessingml/2006/main" xmlns:w14="http://schemas.microsoft.com/office/word/2010/wordml" xmlns:w15="http://schemas.microsoft.com/office/word/2012/wordml" mc:Ignorable="w14 w15">
  <w:docDefaults>
    <w:rPrDefault>
      <w:rPr>
        <w:rFonts w:ascii="Arial" w:cs="Arial" w:eastAsia="Arial" w:hAnsi="Arial"/>
        <w:sz w:val="20"/>
        <w:szCs w:val="20"/>
      </w:rPr>
    </w:rPrDefault>
    <w:pPrDefault/>
  </w:docDefaults>
  <w:style w:type="paragraph" w:styleId="Title">
    <w:name w:val="Title"/>
    <w:basedOn w:val="Normal"/>
    <w:next w:val="Normal"/>
    <w:qFormat/>
    <w:rPr>
      <w:sz w:val="56"/>
      <w:szCs w:val="56"/>
    </w:rPr>
  </w:style>
  <w:style w:type="paragraph" w:styleId="Heading1">
    <w:name w:val="Heading 1"/>
    <w:basedOn w:val="Normal"/>
    <w:next w:val="Normal"/>
    <w:qFormat/>
    <w:rPr>
      <w:color w:val="2E74B5"/>
      <w:sz w:val="32"/>
      <w:szCs w:val="32"/>
    </w:rPr>
  </w:style>
  <w:style w:type="paragraph" w:styleId="Heading2">
    <w:name w:val="Heading 2"/>
    <w:basedOn w:val="Normal"/>
    <w:next w:val="Normal"/>
    <w:qFormat/>
    <w:rPr>
      <w:color w:val="2E74B5"/>
      <w:sz w:val="26"/>
      <w:szCs w:val="26"/>
    </w:rPr>
  </w:style>
  <w:style w:type="paragraph" w:styleId="Heading3">
    <w:name w:val="Heading 3"/>
    <w:basedOn w:val="Normal"/>
    <w:next w:val="Normal"/>
    <w:qFormat/>
    <w:rPr>
      <w:color w:val="1F4D78"/>
      <w:sz w:val="24"/>
      <w:szCs w:val="24"/>
    </w:rPr>
  </w:style>
  <w:style w:type="paragraph" w:styleId="Heading4">
    <w:name w:val="Heading 4"/>
    <w:basedOn w:val="Normal"/>
    <w:next w:val="Normal"/>
    <w:qFormat/>
    <w:rPr>
      <w:i/>
      <w:iCs/>
      <w:color w:val="2E74B5"/>
    </w:rPr>
  </w:style>
  <w:style w:type="paragraph" w:styleId="Heading5">
    <w:name w:val="Heading 5"/>
    <w:basedOn w:val="Normal"/>
    <w:next w:val="Normal"/>
    <w:qFormat/>
    <w:rPr>
      <w:color w:val="2E74B5"/>
    </w:rPr>
  </w:style>
  <w:style w:type="paragraph" w:styleId="Heading6">
    <w:name w:val="Heading 6"/>
    <w:basedOn w:val="Normal"/>
    <w:next w:val="Normal"/>
    <w:qFormat/>
    <w:rPr>
      <w:color w:val="1F4D78"/>
    </w:rPr>
  </w:style>
  <w:style w:type="paragraph" w:styleId="Strong">
    <w:name w:val="Strong"/>
    <w:basedOn w:val="Normal"/>
    <w:next w:val="Normal"/>
    <w:qFormat/>
    <w:rPr>
      <w:b/>
      <w:bCs/>
    </w:rPr>
  </w:style>
  <w:style w:type="paragraph" w:styleId="ListParagraph">
    <w:name w:val="List Paragraph"/>
    <w:basedOn w:val="Normal"/>
    <w:qFormat/>
  </w:style>
  <w:style w:type="character" w:styleId="Hyperlink">
    <w:name w:val="Hyperlink"/>
    <w:basedOn w:val="DefaultParagraphFont"/>
    <w:uiPriority w:val="99"/>
    <w:unhideWhenUsed/>
    <w:rPr>
      <w:color w:val="0563C1"/>
      <w:u w:val="single"/>
    </w:rPr>
  </w:style>
  <w:style w:type="character" w:styleId="FootnoteReference">
    <w:name w:val="footnote reference"/>
    <w:basedOn w:val="DefaultParagraphFont"/>
    <w:uiPriority w:val="99"/>
    <w:semiHidden/>
    <w:unhideWhenUsed/>
    <w:rPr>
      <w:vertAlign w:val="superscript"/>
    </w:rPr>
  </w:style>
  <w:style w:type="paragraph" w:styleId="FootnoteText">
    <w:name w:val="footnote text"/>
    <w:basedOn w:val="Normal"/>
    <w:link w:val="FootnoteTextChar"/>
    <w:uiPriority w:val="99"/>
    <w:semiHidden/>
    <w:unhideWhenUsed/>
    <w:pPr>
      <w:spacing w:after="0" w:line="240" w:lineRule="auto"/>
    </w:pPr>
    <w:rPr>
      <w:sz w:val="20"/>
      <w:szCs w:val="20"/>
    </w:rPr>
  </w:style>
  <w:style w:type="character" w:styleId="FootnoteTextChar">
    <w:name w:val="Footnote Text Char"/>
    <w:basedOn w:val="DefaultParagraphFont"/>
    <w:link w:val="FootnoteText"/>
    <w:uiPriority w:val="99"/>
    <w:semiHidden/>
    <w:unhideWhenUsed/>
    <w:rPr>
      <w:sz w:val="20"/>
      <w:szCs w:val="20"/>
    </w:rPr>
  </w:style>
  <w:style w:type="character" w:styleId="EndnoteReference">
    <w:name w:val="endnote reference"/>
    <w:basedOn w:val="DefaultParagraphFont"/>
    <w:uiPriority w:val="99"/>
    <w:semiHidden/>
    <w:unhideWhenUsed/>
    <w:rPr>
      <w:vertAlign w:val="superscript"/>
    </w:rPr>
  </w:style>
  <w:style w:type="paragraph" w:styleId="EndnoteText">
    <w:name w:val="endnote text"/>
    <w:basedOn w:val="Normal"/>
    <w:link w:val="EndnoteTextChar"/>
    <w:uiPriority w:val="99"/>
    <w:semiHidden/>
    <w:unhideWhenUsed/>
    <w:pPr>
      <w:spacing w:after="0" w:line="240" w:lineRule="auto"/>
    </w:pPr>
    <w:rPr>
      <w:sz w:val="20"/>
      <w:szCs w:val="20"/>
    </w:rPr>
  </w:style>
  <w:style w:type="character" w:styleId="EndnoteTextChar">
    <w:name w:val="Endnote Text Char"/>
    <w:basedOn w:val="DefaultParagraphFont"/>
    <w:link w:val="EndnoteText"/>
    <w:uiPriority w:val="99"/>
    <w:semiHidden/>
    <w:unhideWhenUsed/>
    <w:rPr>
      <w:sz w:val="20"/>
      <w:szCs w:val="20"/>
    </w:rPr>
  </w:style>
  <w:style w:type="paragraph" w:styleId="Heading1">
    <w:name w:val="Heading 1"/>
    <w:basedOn w:val="Normal"/>
    <w:next w:val="Normal"/>
    <w:qFormat/>
    <w:pPr>
      <w:spacing w:after="160" w:before="320"/>
      <w:outlineLvl w:val="0"/>
    </w:pPr>
    <w:rPr>
      <w:b/>
      <w:bCs/>
      <w:color w:val="111111"/>
      <w:sz w:val="32"/>
      <w:szCs w:val="32"/>
    </w:rPr>
  </w:style>
  <w:style w:type="paragraph" w:styleId="Heading2">
    <w:name w:val="Heading 2"/>
    <w:basedOn w:val="Normal"/>
    <w:next w:val="Normal"/>
    <w:qFormat/>
    <w:pPr>
      <w:spacing w:after="100" w:before="200"/>
      <w:outlineLvl w:val="1"/>
    </w:pPr>
    <w:rPr>
      <w:b/>
      <w:bCs/>
      <w:color w:val="333333"/>
      <w:sz w:val="24"/>
      <w:szCs w:val="24"/>
    </w:rPr>
  </w:style>
</w:styles>
</file>

<file path=word/_rels/comments.xml.rels><?xml version="1.0" encoding="UTF-8"?><Relationships xmlns="http://schemas.openxmlformats.org/package/2006/relationships"/>
</file>

<file path=word/_rels/document.xml.rels><?xml version="1.0" encoding="UTF-8"?><Relationships xmlns="http://schemas.openxmlformats.org/package/2006/relationships"><Relationship Id="rId1" Type="http://schemas.openxmlformats.org/officeDocument/2006/relationships/styles" Target="styles.xml"/><Relationship Id="rId2" Type="http://schemas.openxmlformats.org/officeDocument/2006/relationships/numbering" Target="numbering.xml"/><Relationship Id="rId3" Type="http://schemas.openxmlformats.org/officeDocument/2006/relationships/footnotes" Target="footnotes.xml"/><Relationship Id="rId4" Type="http://schemas.openxmlformats.org/officeDocument/2006/relationships/endnotes" Target="endnotes.xml"/><Relationship Id="rId5" Type="http://schemas.openxmlformats.org/officeDocument/2006/relationships/settings" Target="settings.xml"/><Relationship Id="rId6" Type="http://schemas.openxmlformats.org/officeDocument/2006/relationships/comments" Target="comments.xml"/><Relationship Id="rId7" Type="http://schemas.openxmlformats.org/officeDocument/2006/relationships/fontTable" Target="fontTable.xml"/></Relationships>
</file>

<file path=word/_rels/endnotes.xml.rels><?xml version="1.0" encoding="UTF-8"?><Relationships xmlns="http://schemas.openxmlformats.org/package/2006/relationships"/>
</file>

<file path=word/_rels/fontTable.xml.rels><?xml version="1.0" encoding="UTF-8"?><Relationships xmlns="http://schemas.openxmlformats.org/package/2006/relationships"/>
</file>

<file path=word/_rels/footnotes.xml.rels><?xml version="1.0" encoding="UTF-8"?><Relationships xmlns="http://schemas.openxmlformats.org/package/2006/relationships"/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605</Words>
  <Application>Microsoft Office PowerPoint</Application>
  <PresentationFormat>화면 슬라이드 쇼(16:9)</PresentationFormat>
  <Paragraphs>133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행복을 찾아서</dc:title>
  <dc:subject>PptxGenJS Presentation</dc:subject>
  <dc:creator>8조</dc:creator>
  <cp:lastModifiedBy>장현창</cp:lastModifiedBy>
  <cp:revision>3</cp:revision>
  <dcterms:created xsi:type="dcterms:W3CDTF">2026-06-10T07:22:15Z</dcterms:created>
  <dcterms:modified xsi:type="dcterms:W3CDTF">2026-06-10T08:01:56Z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3" Type="http://schemas.openxmlformats.org/officeDocument/2006/relationships/slide" Target="slides/slide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5004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C8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E3A5F">
              <a:alpha val="20000"/>
            </a:srgbClr>
          </a:solidFill>
          <a:ln w="12700">
            <a:solidFill>
              <a:srgbClr val="1E3A5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73152" cy="2286000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행복을 찾아서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블록깨기 게임  ·  행복 에너지 프로젝트  |  8조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457200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게임 링크 — 실제 주소 삽입 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장현창 202311364  /  장혁 202312372  /  김상오 202311267  /  이준영 202211345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0" y="1005840"/>
            <a:ext cx="402336" cy="246888"/>
          </a:xfrm>
          <a:prstGeom prst="rect">
            <a:avLst/>
          </a:prstGeom>
          <a:solidFill>
            <a:srgbClr val="545454"/>
          </a:solidFill>
          <a:ln w="635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333488" y="1005840"/>
            <a:ext cx="402336" cy="246888"/>
          </a:xfrm>
          <a:prstGeom prst="rect">
            <a:avLst/>
          </a:prstGeom>
          <a:solidFill>
            <a:srgbClr val="606E80"/>
          </a:solidFill>
          <a:ln w="635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808976" y="1005840"/>
            <a:ext cx="402336" cy="246888"/>
          </a:xfrm>
          <a:prstGeom prst="rect">
            <a:avLst/>
          </a:prstGeom>
          <a:solidFill>
            <a:srgbClr val="63537F"/>
          </a:solidFill>
          <a:ln w="635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858000" y="1325880"/>
            <a:ext cx="402336" cy="246888"/>
          </a:xfrm>
          <a:prstGeom prst="rect">
            <a:avLst/>
          </a:prstGeom>
          <a:solidFill>
            <a:srgbClr val="805252"/>
          </a:solidFill>
          <a:ln w="635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7333488" y="1325880"/>
            <a:ext cx="402336" cy="246888"/>
          </a:xfrm>
          <a:prstGeom prst="rect">
            <a:avLst/>
          </a:prstGeom>
          <a:solidFill>
            <a:srgbClr val="B8860B"/>
          </a:solidFill>
          <a:ln w="635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7808976" y="1325880"/>
            <a:ext cx="402336" cy="246888"/>
          </a:xfrm>
          <a:prstGeom prst="rect">
            <a:avLst/>
          </a:prstGeom>
          <a:solidFill>
            <a:srgbClr val="2A2A2A"/>
          </a:solidFill>
          <a:ln w="635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7818120" y="1719072"/>
            <a:ext cx="292608" cy="292608"/>
          </a:xfrm>
          <a:prstGeom prst="ellipse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132320" y="2148840"/>
            <a:ext cx="1325880" cy="164592"/>
          </a:xfrm>
          <a:prstGeom prst="rect">
            <a:avLst/>
          </a:prstGeom>
          <a:solidFill>
            <a:srgbClr val="F9C846"/>
          </a:solidFill>
          <a:ln w="1270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시나리오 &amp; 게임 객체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365760" y="3119247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화면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777240"/>
          <a:ext cx="4663440" cy="27432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게임 요소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행복 에너지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스트레스를 정화하는 에너지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패드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에너지를 받아내고 방향 조절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스트레스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블록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정화해야 할 부정적 감정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행복도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점수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이하 → 게임 오버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보스 블록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자율이동, 5스테이지 최종 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023360"/>
            <a:ext cx="2788920" cy="8229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274320" y="4023360"/>
            <a:ext cx="278892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C846"/>
                </a:solidFill>
              </a:rPr>
              <a:t>목표
</a:t>
            </a:r>
            <a:r>
              <a:rPr lang="en-US" sz="950" dirty="0">
                <a:solidFill>
                  <a:srgbClr val="F9FAFB"/>
                </a:solidFill>
              </a:rPr>
              <a:t>스트레스 정화로 마음의 평화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27832" y="4023360"/>
            <a:ext cx="2788920" cy="8229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3227832" y="4023360"/>
            <a:ext cx="278892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C846"/>
                </a:solidFill>
              </a:rPr>
              <a:t>클리어
</a:t>
            </a:r>
            <a:r>
              <a:rPr lang="en-US" sz="950" dirty="0">
                <a:solidFill>
                  <a:srgbClr val="F9FAFB"/>
                </a:solidFill>
              </a:rPr>
              <a:t>1~4 일반 + 5 보스 스테이지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81344" y="4023360"/>
            <a:ext cx="2788920" cy="8229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6181344" y="4023360"/>
            <a:ext cx="278892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C846"/>
                </a:solidFill>
              </a:rPr>
              <a:t>게임 오버
</a:t>
            </a:r>
            <a:r>
              <a:rPr lang="en-US" sz="950" dirty="0">
                <a:solidFill>
                  <a:srgbClr val="F9FAFB"/>
                </a:solidFill>
              </a:rPr>
              <a:t>행복도 0 / 생명 소모 / PTSD 3분</a:t>
            </a:r>
            <a:endParaRPr lang="en-US" sz="11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86AF40F-4FA8-1E38-F641-7C03E37F4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3921760" cy="22059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스트레스 블록 종류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743200" cy="19385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38328" y="941832"/>
            <a:ext cx="548640" cy="548640"/>
          </a:xfrm>
          <a:prstGeom prst="rect">
            <a:avLst/>
          </a:prstGeom>
          <a:solidFill>
            <a:srgbClr val="545454"/>
          </a:solidFill>
          <a:ln w="1016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스트레스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1/3/10/30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38328" y="18745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스트레스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정화 시 2HS 지급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822960"/>
            <a:ext cx="2743200" cy="19385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264408" y="941832"/>
            <a:ext cx="548640" cy="548640"/>
          </a:xfrm>
          <a:prstGeom prst="rect">
            <a:avLst/>
          </a:prstGeom>
          <a:solidFill>
            <a:srgbClr val="606E80"/>
          </a:solidFill>
          <a:ln w="1016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303520" y="941832"/>
            <a:ext cx="502920" cy="237744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303520" y="94183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7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보호박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886200" y="960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트라우마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64408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3 (고정)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64408" y="18745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충돌당 1씩만 깎임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쉽게 사라지지 않음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822960"/>
            <a:ext cx="2743200" cy="19385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190488" y="941832"/>
            <a:ext cx="548640" cy="548640"/>
          </a:xfrm>
          <a:prstGeom prst="rect">
            <a:avLst/>
          </a:prstGeom>
          <a:solidFill>
            <a:srgbClr val="63537F"/>
          </a:solidFill>
          <a:ln w="1016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229600" y="941832"/>
            <a:ext cx="502920" cy="237744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229600" y="94183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강화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812280" y="960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정신적 압박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90488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일반 × 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90488" y="18745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일반의 2배 HP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버티는 스트레스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2907792"/>
            <a:ext cx="2743200" cy="19385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338328" y="3026664"/>
            <a:ext cx="548640" cy="548640"/>
          </a:xfrm>
          <a:prstGeom prst="rect">
            <a:avLst/>
          </a:prstGeom>
          <a:solidFill>
            <a:srgbClr val="B8860B"/>
          </a:solidFill>
          <a:ln w="1016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2377440" y="3026664"/>
            <a:ext cx="502920" cy="237744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377440" y="302666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보상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960120" y="30449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카타르시스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일반과 동일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8328" y="395935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정화 시 5HS 지급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후련함의 스트레스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54680" y="2907792"/>
            <a:ext cx="2743200" cy="19385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3264408" y="3026664"/>
            <a:ext cx="548640" cy="548640"/>
          </a:xfrm>
          <a:prstGeom prst="rect">
            <a:avLst/>
          </a:prstGeom>
          <a:solidFill>
            <a:srgbClr val="805252"/>
          </a:solidFill>
          <a:ln w="1016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5303520" y="3026664"/>
            <a:ext cx="502920" cy="237744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303520" y="302666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무적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886200" y="30449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나쁜 기억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264408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무한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264408" y="395935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무한, 파괴 불가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클리어 조건 제외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80760" y="2907792"/>
            <a:ext cx="2743200" cy="19385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6190488" y="3026664"/>
            <a:ext cx="548640" cy="548640"/>
          </a:xfrm>
          <a:prstGeom prst="rect">
            <a:avLst/>
          </a:prstGeom>
          <a:solidFill>
            <a:srgbClr val="2A2A2A"/>
          </a:solidFill>
          <a:ln w="1016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8229600" y="3026664"/>
            <a:ext cx="502920" cy="237744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8229600" y="302666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보스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812280" y="30449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PTSD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190488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500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190488" y="395935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 이동 + 방패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0.5초마다 방향 꺾임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행복 에너지 특수 능력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스테이지 클리어 후 3개 중 1개 선택  ·  업그레이드 최대 4회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1143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1051560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행복은 나눌수록 커져요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316736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3회 충돌마다 소형 에너지 1개 생성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90872" y="1005840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782312" y="1143000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782312" y="1143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48072" y="1051560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큰 행복!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48072" y="1316736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에너지 크기 +50%, 정화력 +100%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1664208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20040" y="1801368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20040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" y="1709928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피할수 없으면 즐겨라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1975104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나쁜 기억(파괴불가) 블록 관통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90872" y="1664208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782312" y="1801368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782312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48072" y="1709928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행복을 퍼트리자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48072" y="1975104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충돌 시 인접 블록에 50% 스플래시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2322576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320040" y="2459736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2004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85800" y="2368296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고통의 원인 제거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2633472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3초마다 최근접 블록에 저격 에너지 발사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90872" y="2322576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782312" y="2459736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782312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148072" y="2368296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일단 달려!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48072" y="2633472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에너지 속도 +50%, 골드 획득 +200%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28600" y="2980944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320040" y="3118104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320040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5800" y="3026664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행복한 시작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" y="3291840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벽 충돌 전까지 블록 관통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90872" y="2980944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4782312" y="3118104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478231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148072" y="3026664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중요한건 꺾이지 않는 마음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48072" y="3291840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패드 크기 -50%, 골드 획득 +150%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28600" y="3639312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320040" y="3776472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320040" y="3776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5800" y="3685032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점점더 행복해져요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85800" y="3950208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30초마다 메인 에너지 1개 복제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90872" y="3639312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4782312" y="3776472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4782312" y="3776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148072" y="3685032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행복은 멈추지 않아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148072" y="3950208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 정화 시 에너지 반사 없이 통과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28600" y="4297680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320040" y="4434840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320040" y="4434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85800" y="4343400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행복 흩뿌리기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85800" y="4608576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1초마다 연사 에너지 자동 발사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행복의 조각 &amp; 상점 시스템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행복의 조각 (HS)  :  스트레스 정화 시 획득  |  일반 2HS  /  카타르시스 5HS  |  </a:t>
            </a:r>
            <a:r>
              <a:rPr lang="en-US" sz="1100" dirty="0" err="1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스테이지</a:t>
            </a:r>
            <a:r>
              <a:rPr lang="en-US" sz="11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ko-KR" altLang="en-US" sz="11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넘어가도 유지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01168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2011680" cy="73152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4320" y="1481328"/>
            <a:ext cx="2011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정화력 +1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9933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5HS  /  +5HS/구매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1371600"/>
            <a:ext cx="201168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450592" y="1371600"/>
            <a:ext cx="2011680" cy="73152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450592" y="1481328"/>
            <a:ext cx="2011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의지 크기 +20px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50592" y="19933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5HS  /  +5HS/구매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371600"/>
            <a:ext cx="201168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626864" y="1371600"/>
            <a:ext cx="2011680" cy="73152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626864" y="1481328"/>
            <a:ext cx="2011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카타르시스 +2개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26864" y="19933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5HS  /  +5HS/구매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03136" y="1371600"/>
            <a:ext cx="201168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803136" y="1371600"/>
            <a:ext cx="2011680" cy="73152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803136" y="1481328"/>
            <a:ext cx="2011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생명 +1 (최대 3)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03136" y="19933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30HS 고정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788920"/>
            <a:ext cx="8595360" cy="20574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274320" y="2788920"/>
            <a:ext cx="8595360" cy="73152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02920" y="28803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능력 업그레이드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" y="3291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선택한 능력에 추가 효과 부여  /  최대 4회  /  Lv.1~3: 10HS  /  Lv.MAX: 30HS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3749040"/>
            <a:ext cx="1234440" cy="548640"/>
          </a:xfrm>
          <a:prstGeom prst="rect">
            <a:avLst/>
          </a:prstGeom>
          <a:solidFill>
            <a:srgbClr val="25334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02920" y="3749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Lv.1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0233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965960" y="3749040"/>
            <a:ext cx="1234440" cy="548640"/>
          </a:xfrm>
          <a:prstGeom prst="rect">
            <a:avLst/>
          </a:prstGeom>
          <a:solidFill>
            <a:srgbClr val="25334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965960" y="3749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Lv.2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965960" y="40233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29000" y="3749040"/>
            <a:ext cx="1234440" cy="548640"/>
          </a:xfrm>
          <a:prstGeom prst="rect">
            <a:avLst/>
          </a:prstGeom>
          <a:solidFill>
            <a:srgbClr val="25334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3429000" y="3749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Lv.3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29000" y="40233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92040" y="3749040"/>
            <a:ext cx="1234440" cy="548640"/>
          </a:xfrm>
          <a:prstGeom prst="rect">
            <a:avLst/>
          </a:prstGeom>
          <a:solidFill>
            <a:srgbClr val="F9C846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892040" y="3749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92040" y="40233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30HS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92240" y="3749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보유 능력 패널에 Lv.X / MAX 뱃지로 레벨 표시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기술적 구현 특이사항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95360" cy="129844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713232"/>
            <a:ext cx="54864" cy="1298448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공-패드 스핀 각도 시스템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패드를 빠르게 이동할수록 공이 꺾이는 각도가 커짐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453896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100ms 이동 속도 평균으로 반사각에 ±45° 보정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±60°로 클램프 적용 (터널링 방지 포함)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8595360" cy="129844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" y="2103120"/>
            <a:ext cx="54864" cy="1298448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 HP 색상 시각화  (HP 비율 → 흰색 선형 보간)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2578608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 고유 색상에서 흰색으로 보간 — 남은 HP 비율에 따라 밝아짐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843784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보색 테두리 자동 계산 (RGB 반전) / 1px inset으로 인접 블록 겹침 방지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나쁜 기억은 globalAlpha = 0.5 반투명 처리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493008"/>
            <a:ext cx="8595360" cy="129844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274320" y="3493008"/>
            <a:ext cx="54864" cy="1298448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58444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PTSD 보스 AI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7200" y="3968496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0.5초마다 ±10° 랜덤 각도 변화 → 곡선으로 움직이는 듯한 효과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233672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타격 후 bossHitPending 플래그: 벽/의지 반사 시 리셋 → 연타 방지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498848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하단에 나쁜 기억 방패 부착 / 3분 초과 즉시 게임오버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8조  |  장현창(물리·FSM)  ·  장혁(상점·스트레스)  ·  김상오(테마·설정)  ·  이준영(아이템)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기술적 구현 특이사항 (FSM · 최적화)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95360" cy="129844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713232"/>
            <a:ext cx="54864" cy="1298448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— 유한 상태 기계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gameState 변수 하나로 11개 상태 관리: main / preGame / ready / playing / cleared / shop / won / gameover / paused / lifelost / settings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453896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버튼·이벤트는 gameState 확인 후 동작 — 잘못된 상태에서의 오작동 원천 차단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 → playing ⇄ paused 전환 / lifelost → preGame → playing 복귀 / 생명 0 → gameover 직행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8595360" cy="129844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" y="2103120"/>
            <a:ext cx="54864" cy="1298448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최적화 ① — 클리어 판정 &amp; DOM 갱신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2578608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clearableBrickCount 카운터: 매 프레임 전체 블록 순회 없이 파괴 시 -1 → 0이 되면 즉시 클리어 판정 (O(1))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843784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statsDirty / scoreDirty 플래그: 능력치·점수가 변한 프레임에만 DOM 갱신 함수 호출 — 매 프레임 불필요한 렌더링 방지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 색상 캐싱: HP 변화 시에만 _displayColor / _borderColor 재계산, draw에서는 저장값 재사용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493008"/>
            <a:ext cx="8595360" cy="129844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274320" y="3493008"/>
            <a:ext cx="54864" cy="1298448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58444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최적화 ② — DPR 대응 &amp; 반응형 캔버스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7200" y="3968496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window.devicePixelRatio 배수로 캔버스 버퍼 확대 → Retina 디스플레이에서 선명하게 렌더링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233672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좌표계 800×500 고정 후 ctx.scale(dpr, dpr) 적용 — 게임 물리 로직에 영향 없이 고해상도 대응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498848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 리사이즈 시 캔버스 래퍼 너비 동적 재계산 — 8:5 비율 유지, 화면 크기에 무관하게 레이아웃 보존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ibrali" pitchFamily="34" charset="-122"/&gt;
                <a:cs typeface="Calibri" pitchFamily="34" charset="-120"/>
              </a:rPr>
              <a:t>8조  |  장현창(물리·FSM)  ·  장혁(상점·스트레스)  ·  김상오(테마·설정)  ·  이준영(아이템)</a:t>
            </a:r>
            <a:endParaRPr lang="en-US" sz="950" dirty="0"/>
          </a:p>
        </p:txBody>
      </p:sp>
    </p:spTree>
  </p:cSld>
  <p:clrMapOvr>
    <a:masterClrMapping/>
  </p:clrMapOvr>
</p:sld>
</file>

<file path=ppt/tableStyles.xml><?xml version="1.0" encoding="utf-8"?>
<a:tblStyleLst xmlns:a="http://schemas.openxmlformats.org/drawingml/2006/main" def="{5C22544A-7EE6-4342-B048-85BDC9FD1C3A}"/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802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